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Raleway"/>
      <p:regular r:id="rId14"/>
      <p:bold r:id="rId15"/>
      <p:italic r:id="rId16"/>
      <p:boldItalic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aleway-bold.fntdata"/><Relationship Id="rId14" Type="http://schemas.openxmlformats.org/officeDocument/2006/relationships/font" Target="fonts/Raleway-regular.fntdata"/><Relationship Id="rId17" Type="http://schemas.openxmlformats.org/officeDocument/2006/relationships/font" Target="fonts/Raleway-boldItalic.fntdata"/><Relationship Id="rId16" Type="http://schemas.openxmlformats.org/officeDocument/2006/relationships/font" Target="fonts/Raleway-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ee6bf029e1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ee6bf029e1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Many chess engines available today are designed for advanced players and can be overwhelming for beginners or students learning the fundamentals of chess. They often require internet access, complex interfaces, or high computational resources. This project aims to solve that problem by creating a simple, offline, and intuitive chess engine that follows official chess rules and provides a clear visual interface suitable for learning, casual play, and school‑level tournaments.</a:t>
            </a:r>
            <a:endParaRPr/>
          </a:p>
          <a:p>
            <a:pPr indent="0" lvl="0" marL="0" rtl="0" algn="l">
              <a:lnSpc>
                <a:spcPct val="115000"/>
              </a:lnSpc>
              <a:spcBef>
                <a:spcPts val="1200"/>
              </a:spcBef>
              <a:spcAft>
                <a:spcPts val="0"/>
              </a:spcAft>
              <a:buClr>
                <a:schemeClr val="dk1"/>
              </a:buClr>
              <a:buSzPts val="1100"/>
              <a:buFont typeface="Arial"/>
              <a:buNone/>
            </a:pPr>
            <a:r>
              <a:rPr lang="en"/>
              <a:t>The engine is designed for beginner chess players, students learning chess strategy, and casual players who want a straightforward experience. It also supports educational use, allowing teachers to demonstrate algorithms and game logic in a practical context.</a:t>
            </a:r>
            <a:endParaRPr/>
          </a:p>
          <a:p>
            <a:pPr indent="0" lvl="0" marL="0" rtl="0" algn="l">
              <a:lnSpc>
                <a:spcPct val="115000"/>
              </a:lnSpc>
              <a:spcBef>
                <a:spcPts val="1200"/>
              </a:spcBef>
              <a:spcAft>
                <a:spcPts val="1200"/>
              </a:spcAft>
              <a:buNone/>
            </a:pPr>
            <a:r>
              <a:rPr lang="en"/>
              <a:t>The main objectives of the project are to provide an intuitive drag‑and‑drop interface, enforce all official chess rules, detect check and checkmate conditions, and offer the option to play against an AI opponent in future versions. The engine is fast, offline, easy to use, and visually clear, making it ideal for school environments.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ee6bf029e1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ee6bf029e1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project is built using </a:t>
            </a:r>
            <a:r>
              <a:rPr b="1" lang="en">
                <a:solidFill>
                  <a:schemeClr val="dk1"/>
                </a:solidFill>
              </a:rPr>
              <a:t>Python</a:t>
            </a:r>
            <a:r>
              <a:rPr lang="en">
                <a:solidFill>
                  <a:schemeClr val="dk1"/>
                </a:solidFill>
              </a:rPr>
              <a:t>, chosen for its readability, rapid development capabilities, and strong support for object‑oriented programming. Python’s simplicity makes it ideal for educational environments and allows complex logic, such as move validation, to be implemented cleanly.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Development was carried out in </a:t>
            </a:r>
            <a:r>
              <a:rPr b="1" lang="en">
                <a:solidFill>
                  <a:schemeClr val="dk1"/>
                </a:solidFill>
              </a:rPr>
              <a:t>Visual Studio Code</a:t>
            </a:r>
            <a:r>
              <a:rPr lang="en">
                <a:solidFill>
                  <a:schemeClr val="dk1"/>
                </a:solidFill>
              </a:rPr>
              <a:t>, which provides an efficient programming environment with integrated debugging tools, extensions, and GitHub support. VS Code’s lightweight nature made it easy to iterate quickly during development.</a:t>
            </a:r>
            <a:endParaRPr>
              <a:solidFill>
                <a:schemeClr val="dk1"/>
              </a:solidFill>
            </a:endParaRPr>
          </a:p>
          <a:p>
            <a:pPr indent="0" lvl="0" marL="0" rtl="0" algn="l">
              <a:lnSpc>
                <a:spcPct val="115000"/>
              </a:lnSpc>
              <a:spcBef>
                <a:spcPts val="1200"/>
              </a:spcBef>
              <a:spcAft>
                <a:spcPts val="1200"/>
              </a:spcAft>
              <a:buNone/>
            </a:pPr>
            <a:r>
              <a:rPr lang="en">
                <a:solidFill>
                  <a:schemeClr val="dk1"/>
                </a:solidFill>
              </a:rPr>
              <a:t>Version control was managed through </a:t>
            </a:r>
            <a:r>
              <a:rPr b="1" lang="en">
                <a:solidFill>
                  <a:schemeClr val="dk1"/>
                </a:solidFill>
              </a:rPr>
              <a:t>GitHub</a:t>
            </a:r>
            <a:r>
              <a:rPr lang="en">
                <a:solidFill>
                  <a:schemeClr val="dk1"/>
                </a:solidFill>
              </a:rPr>
              <a:t>, ensuring that all changes were tracked, backed up, and easily reversible. GitHub also allowed the project to follow proper software engineering practices, including commit history, versioning, and collaboration.</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ee6bf029e1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ee6bf029e1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chess engine follows a layered architecture that separates user interaction from game logic. At the top level, the </a:t>
            </a:r>
            <a:r>
              <a:rPr b="1" lang="en">
                <a:solidFill>
                  <a:schemeClr val="dk1"/>
                </a:solidFill>
              </a:rPr>
              <a:t>Player</a:t>
            </a:r>
            <a:r>
              <a:rPr lang="en">
                <a:solidFill>
                  <a:schemeClr val="dk1"/>
                </a:solidFill>
              </a:rPr>
              <a:t> interacts with the </a:t>
            </a:r>
            <a:r>
              <a:rPr b="1" lang="en">
                <a:solidFill>
                  <a:schemeClr val="dk1"/>
                </a:solidFill>
              </a:rPr>
              <a:t>GUI</a:t>
            </a:r>
            <a:r>
              <a:rPr lang="en">
                <a:solidFill>
                  <a:schemeClr val="dk1"/>
                </a:solidFill>
              </a:rPr>
              <a:t>, which displays the board and receives input such as mouse clicks and drags. The GUI communicates with the </a:t>
            </a:r>
            <a:r>
              <a:rPr b="1" lang="en">
                <a:solidFill>
                  <a:schemeClr val="dk1"/>
                </a:solidFill>
              </a:rPr>
              <a:t>Game Controller</a:t>
            </a:r>
            <a:r>
              <a:rPr lang="en">
                <a:solidFill>
                  <a:schemeClr val="dk1"/>
                </a:solidFill>
              </a:rPr>
              <a:t>, which manages turns, themes, sounds, and rendering.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Game Controller interacts with the </a:t>
            </a:r>
            <a:r>
              <a:rPr b="1" lang="en">
                <a:solidFill>
                  <a:schemeClr val="dk1"/>
                </a:solidFill>
              </a:rPr>
              <a:t>Chess Board</a:t>
            </a:r>
            <a:r>
              <a:rPr lang="en">
                <a:solidFill>
                  <a:schemeClr val="dk1"/>
                </a:solidFill>
              </a:rPr>
              <a:t>, which stores piece positions and game state. The </a:t>
            </a:r>
            <a:r>
              <a:rPr b="1" lang="en">
                <a:solidFill>
                  <a:schemeClr val="dk1"/>
                </a:solidFill>
              </a:rPr>
              <a:t>Move Validator</a:t>
            </a:r>
            <a:r>
              <a:rPr lang="en">
                <a:solidFill>
                  <a:schemeClr val="dk1"/>
                </a:solidFill>
              </a:rPr>
              <a:t> checks whether moves are legal, including special rules such as castling and en passant. In future versions, the </a:t>
            </a:r>
            <a:r>
              <a:rPr b="1" lang="en">
                <a:solidFill>
                  <a:schemeClr val="dk1"/>
                </a:solidFill>
              </a:rPr>
              <a:t>AI Engine</a:t>
            </a:r>
            <a:r>
              <a:rPr lang="en">
                <a:solidFill>
                  <a:schemeClr val="dk1"/>
                </a:solidFill>
              </a:rPr>
              <a:t> will analyse the board and calculate optimal moves. Once a move is validated or generated, the updated board is displayed to the user.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 </a:t>
            </a:r>
            <a:r>
              <a:rPr b="1" lang="en">
                <a:solidFill>
                  <a:schemeClr val="dk1"/>
                </a:solidFill>
              </a:rPr>
              <a:t>Save System</a:t>
            </a:r>
            <a:r>
              <a:rPr lang="en">
                <a:solidFill>
                  <a:schemeClr val="dk1"/>
                </a:solidFill>
              </a:rPr>
              <a:t> is planned for future development, allowing games to be stored and resumed later.</a:t>
            </a:r>
            <a:endParaRPr>
              <a:solidFill>
                <a:schemeClr val="dk1"/>
              </a:solidFill>
            </a:endParaRPr>
          </a:p>
          <a:p>
            <a:pPr indent="0" lvl="0" marL="0" rtl="0" algn="l">
              <a:lnSpc>
                <a:spcPct val="115000"/>
              </a:lnSpc>
              <a:spcBef>
                <a:spcPts val="1200"/>
              </a:spcBef>
              <a:spcAft>
                <a:spcPts val="1200"/>
              </a:spcAft>
              <a:buNone/>
            </a:pPr>
            <a:r>
              <a:rPr lang="en">
                <a:solidFill>
                  <a:schemeClr val="dk1"/>
                </a:solidFill>
              </a:rPr>
              <a:t>This architecture ensures modularity, making the system easy to maintain, extend, and debug.</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ee6bf029e1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ee6bf029e1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a:t>
            </a:r>
            <a:r>
              <a:rPr lang="en"/>
              <a:t>he codebase is organised into clear modules that each handle a specific responsibility.</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main.py runs the game loop and handles user input.</a:t>
            </a:r>
            <a:endParaRPr/>
          </a:p>
          <a:p>
            <a:pPr indent="0" lvl="0" marL="0" rtl="0" algn="l">
              <a:spcBef>
                <a:spcPts val="0"/>
              </a:spcBef>
              <a:spcAft>
                <a:spcPts val="0"/>
              </a:spcAft>
              <a:buClr>
                <a:schemeClr val="dk1"/>
              </a:buClr>
              <a:buSzPts val="1100"/>
              <a:buFont typeface="Arial"/>
              <a:buNone/>
            </a:pPr>
            <a:r>
              <a:rPr lang="en"/>
              <a:t>game.py manages rendering, themes, sounds, and interaction logic.</a:t>
            </a:r>
            <a:endParaRPr/>
          </a:p>
          <a:p>
            <a:pPr indent="0" lvl="0" marL="0" rtl="0" algn="l">
              <a:spcBef>
                <a:spcPts val="0"/>
              </a:spcBef>
              <a:spcAft>
                <a:spcPts val="0"/>
              </a:spcAft>
              <a:buClr>
                <a:schemeClr val="dk1"/>
              </a:buClr>
              <a:buSzPts val="1100"/>
              <a:buFont typeface="Arial"/>
              <a:buNone/>
            </a:pPr>
            <a:r>
              <a:rPr lang="en"/>
              <a:t>board.py contains the full chess rules engine, including move generation and validation.</a:t>
            </a:r>
            <a:endParaRPr/>
          </a:p>
          <a:p>
            <a:pPr indent="0" lvl="0" marL="0" rtl="0" algn="l">
              <a:spcBef>
                <a:spcPts val="0"/>
              </a:spcBef>
              <a:spcAft>
                <a:spcPts val="0"/>
              </a:spcAft>
              <a:buClr>
                <a:schemeClr val="dk1"/>
              </a:buClr>
              <a:buSzPts val="1100"/>
              <a:buFont typeface="Arial"/>
              <a:buNone/>
            </a:pPr>
            <a:r>
              <a:rPr lang="en"/>
              <a:t>piece.py defines each chess piece and its behaviour.</a:t>
            </a:r>
            <a:endParaRPr/>
          </a:p>
          <a:p>
            <a:pPr indent="0" lvl="0" marL="0" rtl="0" algn="l">
              <a:spcBef>
                <a:spcPts val="0"/>
              </a:spcBef>
              <a:spcAft>
                <a:spcPts val="0"/>
              </a:spcAft>
              <a:buClr>
                <a:schemeClr val="dk1"/>
              </a:buClr>
              <a:buSzPts val="1100"/>
              <a:buFont typeface="Arial"/>
              <a:buNone/>
            </a:pPr>
            <a:r>
              <a:rPr lang="en"/>
              <a:t>square.py represents individual board squares.</a:t>
            </a:r>
            <a:endParaRPr/>
          </a:p>
          <a:p>
            <a:pPr indent="0" lvl="0" marL="0" rtl="0" algn="l">
              <a:spcBef>
                <a:spcPts val="0"/>
              </a:spcBef>
              <a:spcAft>
                <a:spcPts val="0"/>
              </a:spcAft>
              <a:buClr>
                <a:schemeClr val="dk1"/>
              </a:buClr>
              <a:buSzPts val="1100"/>
              <a:buFont typeface="Arial"/>
              <a:buNone/>
            </a:pPr>
            <a:r>
              <a:rPr lang="en"/>
              <a:t>move.py stores move data.</a:t>
            </a:r>
            <a:endParaRPr/>
          </a:p>
          <a:p>
            <a:pPr indent="0" lvl="0" marL="0" rtl="0" algn="l">
              <a:spcBef>
                <a:spcPts val="0"/>
              </a:spcBef>
              <a:spcAft>
                <a:spcPts val="0"/>
              </a:spcAft>
              <a:buClr>
                <a:schemeClr val="dk1"/>
              </a:buClr>
              <a:buSzPts val="1100"/>
              <a:buFont typeface="Arial"/>
              <a:buNone/>
            </a:pPr>
            <a:r>
              <a:rPr lang="en"/>
              <a:t>dragger.py handles drag‑and‑drop movement.</a:t>
            </a:r>
            <a:endParaRPr/>
          </a:p>
          <a:p>
            <a:pPr indent="0" lvl="0" marL="0" rtl="0" algn="l">
              <a:spcBef>
                <a:spcPts val="0"/>
              </a:spcBef>
              <a:spcAft>
                <a:spcPts val="0"/>
              </a:spcAft>
              <a:buClr>
                <a:schemeClr val="dk1"/>
              </a:buClr>
              <a:buSzPts val="1100"/>
              <a:buFont typeface="Arial"/>
              <a:buNone/>
            </a:pPr>
            <a:r>
              <a:rPr lang="en"/>
              <a:t>config.py, theme.py, and color.py manage styling and sound configuration.</a:t>
            </a:r>
            <a:endParaRPr/>
          </a:p>
          <a:p>
            <a:pPr indent="0" lvl="0" marL="0" rtl="0" algn="l">
              <a:spcBef>
                <a:spcPts val="0"/>
              </a:spcBef>
              <a:spcAft>
                <a:spcPts val="0"/>
              </a:spcAft>
              <a:buClr>
                <a:schemeClr val="dk1"/>
              </a:buClr>
              <a:buSzPts val="1100"/>
              <a:buFont typeface="Arial"/>
              <a:buNone/>
            </a:pPr>
            <a:r>
              <a:rPr lang="en"/>
              <a:t>sound.py plays move and capture audio.</a:t>
            </a:r>
            <a:endParaRPr/>
          </a:p>
          <a:p>
            <a:pPr indent="0" lvl="0" marL="0" rtl="0" algn="l">
              <a:spcBef>
                <a:spcPts val="0"/>
              </a:spcBef>
              <a:spcAft>
                <a:spcPts val="0"/>
              </a:spcAft>
              <a:buClr>
                <a:schemeClr val="dk1"/>
              </a:buClr>
              <a:buSzPts val="1100"/>
              <a:buFont typeface="Arial"/>
              <a:buNone/>
            </a:pPr>
            <a:r>
              <a:rPr lang="en"/>
              <a:t>const.py stores global constants such as board size.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This modular structure follows software engineering best practices and makes the project easy to extend.</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effb22b113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effb22b113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chess engine provides an intuitive drag‑and‑drop interface that allows players to move pieces naturally. Valid moves are highlighted in real time, helping beginners understand legal movement patterns. The engine also traces the last move made, improving clarity during gameplay. Multiple visual themes and sound effects enhance the user experience, making the engine engaging and accessible for all users.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ee6bf029e1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ee6bf029e1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One of the major challenges during development was identifying and fixing errors that appeared in the move validation logic and rendering system. Because chess rules are complex, even small mistakes could break the engine or allow illegal moves. Debugging required careful testing, reviewing code interactions, and verifying that each class behaved correctly.</a:t>
            </a:r>
            <a:endParaRPr/>
          </a:p>
          <a:p>
            <a:pPr indent="0" lvl="0" marL="0" rtl="0" algn="l">
              <a:lnSpc>
                <a:spcPct val="115000"/>
              </a:lnSpc>
              <a:spcBef>
                <a:spcPts val="1200"/>
              </a:spcBef>
              <a:spcAft>
                <a:spcPts val="0"/>
              </a:spcAft>
              <a:buNone/>
            </a:pPr>
            <a:r>
              <a:rPr lang="en"/>
              <a:t>To overcome these challenges, AI assistance was used to analyse problematic sections of code and provide detailed explanations of errors. This helped identify incorrect logic, missing conditions, and structural issues. By iterating through these solutions and testing each fix, the engine became stable, reliable, and fully functional.</a:t>
            </a:r>
            <a:endParaRPr/>
          </a:p>
          <a:p>
            <a:pPr indent="0" lvl="0" marL="0" rtl="0" algn="l">
              <a:spcBef>
                <a:spcPts val="120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effb22b113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effb22b113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While the current version of the engine provides a complete and functional chess experience, several enhancements are planned for future development. These include implementing an AI opponent using minimax algorithms, adding a timer for competitive play, exporting games in PGN format, and introducing online multiplayer functionality. Additional improvements such as animations, sound variations, and an opening book would further enrich the user experience and make the engine suitable for larger tournaments.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485875" y="264475"/>
            <a:ext cx="8183700" cy="14736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2" name="Google Shape;12;p2"/>
          <p:cNvSpPr txBox="1"/>
          <p:nvPr>
            <p:ph idx="1" type="subTitle"/>
          </p:nvPr>
        </p:nvSpPr>
        <p:spPr>
          <a:xfrm>
            <a:off x="485875" y="1738075"/>
            <a:ext cx="8183700" cy="861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2400"/>
              <a:buNone/>
              <a:defRPr sz="2400"/>
            </a:lvl1pPr>
            <a:lvl2pPr lvl="1">
              <a:lnSpc>
                <a:spcPct val="100000"/>
              </a:lnSpc>
              <a:spcBef>
                <a:spcPts val="0"/>
              </a:spcBef>
              <a:spcAft>
                <a:spcPts val="0"/>
              </a:spcAft>
              <a:buSzPts val="2400"/>
              <a:buNone/>
              <a:defRPr sz="2400"/>
            </a:lvl2pPr>
            <a:lvl3pPr lvl="2">
              <a:lnSpc>
                <a:spcPct val="100000"/>
              </a:lnSpc>
              <a:spcBef>
                <a:spcPts val="0"/>
              </a:spcBef>
              <a:spcAft>
                <a:spcPts val="0"/>
              </a:spcAft>
              <a:buSzPts val="2400"/>
              <a:buNone/>
              <a:defRPr sz="2400"/>
            </a:lvl3pPr>
            <a:lvl4pPr lvl="3">
              <a:lnSpc>
                <a:spcPct val="100000"/>
              </a:lnSpc>
              <a:spcBef>
                <a:spcPts val="0"/>
              </a:spcBef>
              <a:spcAft>
                <a:spcPts val="0"/>
              </a:spcAft>
              <a:buSzPts val="2400"/>
              <a:buNone/>
              <a:defRPr sz="2400"/>
            </a:lvl4pPr>
            <a:lvl5pPr lvl="4">
              <a:lnSpc>
                <a:spcPct val="100000"/>
              </a:lnSpc>
              <a:spcBef>
                <a:spcPts val="0"/>
              </a:spcBef>
              <a:spcAft>
                <a:spcPts val="0"/>
              </a:spcAft>
              <a:buSzPts val="2400"/>
              <a:buNone/>
              <a:defRPr sz="2400"/>
            </a:lvl5pPr>
            <a:lvl6pPr lvl="5">
              <a:lnSpc>
                <a:spcPct val="100000"/>
              </a:lnSpc>
              <a:spcBef>
                <a:spcPts val="0"/>
              </a:spcBef>
              <a:spcAft>
                <a:spcPts val="0"/>
              </a:spcAft>
              <a:buSzPts val="2400"/>
              <a:buNone/>
              <a:defRPr sz="2400"/>
            </a:lvl6pPr>
            <a:lvl7pPr lvl="6">
              <a:lnSpc>
                <a:spcPct val="100000"/>
              </a:lnSpc>
              <a:spcBef>
                <a:spcPts val="0"/>
              </a:spcBef>
              <a:spcAft>
                <a:spcPts val="0"/>
              </a:spcAft>
              <a:buSzPts val="2400"/>
              <a:buNone/>
              <a:defRPr sz="2400"/>
            </a:lvl7pPr>
            <a:lvl8pPr lvl="7">
              <a:lnSpc>
                <a:spcPct val="100000"/>
              </a:lnSpc>
              <a:spcBef>
                <a:spcPts val="0"/>
              </a:spcBef>
              <a:spcAft>
                <a:spcPts val="0"/>
              </a:spcAft>
              <a:buSzPts val="2400"/>
              <a:buNone/>
              <a:defRPr sz="2400"/>
            </a:lvl8pPr>
            <a:lvl9pPr lvl="8">
              <a:lnSpc>
                <a:spcPct val="100000"/>
              </a:lnSpc>
              <a:spcBef>
                <a:spcPts val="0"/>
              </a:spcBef>
              <a:spcAft>
                <a:spcPts val="0"/>
              </a:spcAft>
              <a:buSzPts val="2400"/>
              <a:buNone/>
              <a:defRPr sz="2400"/>
            </a:lvl9pPr>
          </a:lstStyle>
          <a:p/>
        </p:txBody>
      </p:sp>
      <p:sp>
        <p:nvSpPr>
          <p:cNvPr id="13" name="Google Shape;13;p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3"/>
          <p:cNvSpPr txBox="1"/>
          <p:nvPr>
            <p:ph type="title"/>
          </p:nvPr>
        </p:nvSpPr>
        <p:spPr>
          <a:xfrm>
            <a:off x="485875" y="1714500"/>
            <a:ext cx="8183700" cy="785700"/>
          </a:xfrm>
          <a:prstGeom prst="rect">
            <a:avLst/>
          </a:prstGeom>
        </p:spPr>
        <p:txBody>
          <a:bodyPr anchorCtr="0" anchor="b"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7" name="Google Shape;17;p3"/>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0" name="Google Shape;20;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 name="Google Shape;21;p4"/>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5"/>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4" name="Google Shape;24;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6"/>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9" name="Google Shape;29;p6"/>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2" name="Google Shape;32;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7"/>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2"/>
        </a:solidFill>
      </p:bgPr>
    </p:bg>
    <p:spTree>
      <p:nvGrpSpPr>
        <p:cNvPr id="34" name="Shape 34"/>
        <p:cNvGrpSpPr/>
        <p:nvPr/>
      </p:nvGrpSpPr>
      <p:grpSpPr>
        <a:xfrm>
          <a:off x="0" y="0"/>
          <a:ext cx="0" cy="0"/>
          <a:chOff x="0" y="0"/>
          <a:chExt cx="0" cy="0"/>
        </a:xfrm>
      </p:grpSpPr>
      <p:sp>
        <p:nvSpPr>
          <p:cNvPr id="35" name="Google Shape;35;p8"/>
          <p:cNvSpPr txBox="1"/>
          <p:nvPr>
            <p:ph type="title"/>
          </p:nvPr>
        </p:nvSpPr>
        <p:spPr>
          <a:xfrm>
            <a:off x="490250" y="526350"/>
            <a:ext cx="56040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6" name="Google Shape;36;p8"/>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9"/>
          <p:cNvSpPr/>
          <p:nvPr/>
        </p:nvSpPr>
        <p:spPr>
          <a:xfrm>
            <a:off x="4636800" y="80700"/>
            <a:ext cx="4426500" cy="4982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 name="Google Shape;39;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0" name="Google Shape;40;p9"/>
          <p:cNvSpPr txBox="1"/>
          <p:nvPr>
            <p:ph type="title"/>
          </p:nvPr>
        </p:nvSpPr>
        <p:spPr>
          <a:xfrm>
            <a:off x="265500" y="1181700"/>
            <a:ext cx="4045200" cy="15336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1" name="Google Shape;41;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 name="Google Shape;42;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3" name="Google Shape;43;p9"/>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4" name="Shape 44"/>
        <p:cNvGrpSpPr/>
        <p:nvPr/>
      </p:nvGrpSpPr>
      <p:grpSpPr>
        <a:xfrm>
          <a:off x="0" y="0"/>
          <a:ext cx="0" cy="0"/>
          <a:chOff x="0" y="0"/>
          <a:chExt cx="0" cy="0"/>
        </a:xfrm>
      </p:grpSpPr>
      <p:sp>
        <p:nvSpPr>
          <p:cNvPr id="45" name="Google Shape;45;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6" name="Google Shape;46;p10"/>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7" name="Shape 47"/>
        <p:cNvGrpSpPr/>
        <p:nvPr/>
      </p:nvGrpSpPr>
      <p:grpSpPr>
        <a:xfrm>
          <a:off x="0" y="0"/>
          <a:ext cx="0" cy="0"/>
          <a:chOff x="0" y="0"/>
          <a:chExt cx="0" cy="0"/>
        </a:xfrm>
      </p:grpSpPr>
      <p:sp>
        <p:nvSpPr>
          <p:cNvPr id="48" name="Google Shape;48;p11"/>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11"/>
          <p:cNvSpPr txBox="1"/>
          <p:nvPr>
            <p:ph hasCustomPrompt="1" type="title"/>
          </p:nvPr>
        </p:nvSpPr>
        <p:spPr>
          <a:xfrm>
            <a:off x="311700" y="743001"/>
            <a:ext cx="8520600" cy="200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Font typeface="Source Sans Pro"/>
              <a:buNone/>
              <a:defRPr sz="12000">
                <a:latin typeface="Source Sans Pro"/>
                <a:ea typeface="Source Sans Pro"/>
                <a:cs typeface="Source Sans Pro"/>
                <a:sym typeface="Source Sans Pro"/>
              </a:defRPr>
            </a:lvl1pPr>
            <a:lvl2pPr lvl="1" algn="ctr">
              <a:spcBef>
                <a:spcPts val="0"/>
              </a:spcBef>
              <a:spcAft>
                <a:spcPts val="0"/>
              </a:spcAft>
              <a:buSzPts val="12000"/>
              <a:buFont typeface="Source Sans Pro"/>
              <a:buNone/>
              <a:defRPr sz="12000">
                <a:latin typeface="Source Sans Pro"/>
                <a:ea typeface="Source Sans Pro"/>
                <a:cs typeface="Source Sans Pro"/>
                <a:sym typeface="Source Sans Pro"/>
              </a:defRPr>
            </a:lvl2pPr>
            <a:lvl3pPr lvl="2" algn="ctr">
              <a:spcBef>
                <a:spcPts val="0"/>
              </a:spcBef>
              <a:spcAft>
                <a:spcPts val="0"/>
              </a:spcAft>
              <a:buSzPts val="12000"/>
              <a:buFont typeface="Source Sans Pro"/>
              <a:buNone/>
              <a:defRPr sz="12000">
                <a:latin typeface="Source Sans Pro"/>
                <a:ea typeface="Source Sans Pro"/>
                <a:cs typeface="Source Sans Pro"/>
                <a:sym typeface="Source Sans Pro"/>
              </a:defRPr>
            </a:lvl3pPr>
            <a:lvl4pPr lvl="3" algn="ctr">
              <a:spcBef>
                <a:spcPts val="0"/>
              </a:spcBef>
              <a:spcAft>
                <a:spcPts val="0"/>
              </a:spcAft>
              <a:buSzPts val="12000"/>
              <a:buFont typeface="Source Sans Pro"/>
              <a:buNone/>
              <a:defRPr sz="12000">
                <a:latin typeface="Source Sans Pro"/>
                <a:ea typeface="Source Sans Pro"/>
                <a:cs typeface="Source Sans Pro"/>
                <a:sym typeface="Source Sans Pro"/>
              </a:defRPr>
            </a:lvl4pPr>
            <a:lvl5pPr lvl="4" algn="ctr">
              <a:spcBef>
                <a:spcPts val="0"/>
              </a:spcBef>
              <a:spcAft>
                <a:spcPts val="0"/>
              </a:spcAft>
              <a:buSzPts val="12000"/>
              <a:buFont typeface="Source Sans Pro"/>
              <a:buNone/>
              <a:defRPr sz="12000">
                <a:latin typeface="Source Sans Pro"/>
                <a:ea typeface="Source Sans Pro"/>
                <a:cs typeface="Source Sans Pro"/>
                <a:sym typeface="Source Sans Pro"/>
              </a:defRPr>
            </a:lvl5pPr>
            <a:lvl6pPr lvl="5" algn="ctr">
              <a:spcBef>
                <a:spcPts val="0"/>
              </a:spcBef>
              <a:spcAft>
                <a:spcPts val="0"/>
              </a:spcAft>
              <a:buSzPts val="12000"/>
              <a:buFont typeface="Source Sans Pro"/>
              <a:buNone/>
              <a:defRPr sz="12000">
                <a:latin typeface="Source Sans Pro"/>
                <a:ea typeface="Source Sans Pro"/>
                <a:cs typeface="Source Sans Pro"/>
                <a:sym typeface="Source Sans Pro"/>
              </a:defRPr>
            </a:lvl6pPr>
            <a:lvl7pPr lvl="6" algn="ctr">
              <a:spcBef>
                <a:spcPts val="0"/>
              </a:spcBef>
              <a:spcAft>
                <a:spcPts val="0"/>
              </a:spcAft>
              <a:buSzPts val="12000"/>
              <a:buFont typeface="Source Sans Pro"/>
              <a:buNone/>
              <a:defRPr sz="12000">
                <a:latin typeface="Source Sans Pro"/>
                <a:ea typeface="Source Sans Pro"/>
                <a:cs typeface="Source Sans Pro"/>
                <a:sym typeface="Source Sans Pro"/>
              </a:defRPr>
            </a:lvl7pPr>
            <a:lvl8pPr lvl="7" algn="ctr">
              <a:spcBef>
                <a:spcPts val="0"/>
              </a:spcBef>
              <a:spcAft>
                <a:spcPts val="0"/>
              </a:spcAft>
              <a:buSzPts val="12000"/>
              <a:buFont typeface="Source Sans Pro"/>
              <a:buNone/>
              <a:defRPr sz="12000">
                <a:latin typeface="Source Sans Pro"/>
                <a:ea typeface="Source Sans Pro"/>
                <a:cs typeface="Source Sans Pro"/>
                <a:sym typeface="Source Sans Pro"/>
              </a:defRPr>
            </a:lvl8pPr>
            <a:lvl9pPr lvl="8" algn="ctr">
              <a:spcBef>
                <a:spcPts val="0"/>
              </a:spcBef>
              <a:spcAft>
                <a:spcPts val="0"/>
              </a:spcAft>
              <a:buSzPts val="12000"/>
              <a:buFont typeface="Source Sans Pro"/>
              <a:buNone/>
              <a:defRPr sz="12000">
                <a:latin typeface="Source Sans Pro"/>
                <a:ea typeface="Source Sans Pro"/>
                <a:cs typeface="Source Sans Pro"/>
                <a:sym typeface="Source Sans Pro"/>
              </a:defRPr>
            </a:lvl9pPr>
          </a:lstStyle>
          <a:p>
            <a:r>
              <a:t>xx%</a:t>
            </a:r>
          </a:p>
        </p:txBody>
      </p:sp>
      <p:sp>
        <p:nvSpPr>
          <p:cNvPr id="50" name="Google Shape;50;p11"/>
          <p:cNvSpPr txBox="1"/>
          <p:nvPr>
            <p:ph idx="1" type="body"/>
          </p:nvPr>
        </p:nvSpPr>
        <p:spPr>
          <a:xfrm>
            <a:off x="311700" y="2845182"/>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51" name="Google Shape;51;p11"/>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l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23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1pPr>
            <a:lvl2pPr lvl="1">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2pPr>
            <a:lvl3pPr lvl="2">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3pPr>
            <a:lvl4pPr lvl="3">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4pPr>
            <a:lvl5pPr lvl="4">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5pPr>
            <a:lvl6pPr lvl="5">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6pPr>
            <a:lvl7pPr lvl="6">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7pPr>
            <a:lvl8pPr lvl="7">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8pPr>
            <a:lvl9pPr lvl="8">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Source Sans Pro"/>
              <a:buChar char="●"/>
              <a:defRPr sz="1800">
                <a:solidFill>
                  <a:schemeClr val="lt2"/>
                </a:solidFill>
                <a:latin typeface="Source Sans Pro"/>
                <a:ea typeface="Source Sans Pro"/>
                <a:cs typeface="Source Sans Pro"/>
                <a:sym typeface="Source Sans Pro"/>
              </a:defRPr>
            </a:lvl1pPr>
            <a:lvl2pPr indent="-317500" lvl="1" marL="9144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2pPr>
            <a:lvl3pPr indent="-317500" lvl="2" marL="13716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3pPr>
            <a:lvl4pPr indent="-317500" lvl="3" marL="18288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4pPr>
            <a:lvl5pPr indent="-317500" lvl="4" marL="22860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5pPr>
            <a:lvl6pPr indent="-317500" lvl="5" marL="27432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6pPr>
            <a:lvl7pPr indent="-317500" lvl="6" marL="32004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7pPr>
            <a:lvl8pPr indent="-317500" lvl="7" marL="36576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8pPr>
            <a:lvl9pPr indent="-317500" lvl="8" marL="41148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Source Sans Pro"/>
                <a:ea typeface="Source Sans Pro"/>
                <a:cs typeface="Source Sans Pro"/>
                <a:sym typeface="Source Sans Pro"/>
              </a:defRPr>
            </a:lvl1pPr>
            <a:lvl2pPr lvl="1" algn="r">
              <a:buNone/>
              <a:defRPr sz="1000">
                <a:solidFill>
                  <a:schemeClr val="lt2"/>
                </a:solidFill>
                <a:latin typeface="Source Sans Pro"/>
                <a:ea typeface="Source Sans Pro"/>
                <a:cs typeface="Source Sans Pro"/>
                <a:sym typeface="Source Sans Pro"/>
              </a:defRPr>
            </a:lvl2pPr>
            <a:lvl3pPr lvl="2" algn="r">
              <a:buNone/>
              <a:defRPr sz="1000">
                <a:solidFill>
                  <a:schemeClr val="lt2"/>
                </a:solidFill>
                <a:latin typeface="Source Sans Pro"/>
                <a:ea typeface="Source Sans Pro"/>
                <a:cs typeface="Source Sans Pro"/>
                <a:sym typeface="Source Sans Pro"/>
              </a:defRPr>
            </a:lvl3pPr>
            <a:lvl4pPr lvl="3" algn="r">
              <a:buNone/>
              <a:defRPr sz="1000">
                <a:solidFill>
                  <a:schemeClr val="lt2"/>
                </a:solidFill>
                <a:latin typeface="Source Sans Pro"/>
                <a:ea typeface="Source Sans Pro"/>
                <a:cs typeface="Source Sans Pro"/>
                <a:sym typeface="Source Sans Pro"/>
              </a:defRPr>
            </a:lvl4pPr>
            <a:lvl5pPr lvl="4" algn="r">
              <a:buNone/>
              <a:defRPr sz="1000">
                <a:solidFill>
                  <a:schemeClr val="lt2"/>
                </a:solidFill>
                <a:latin typeface="Source Sans Pro"/>
                <a:ea typeface="Source Sans Pro"/>
                <a:cs typeface="Source Sans Pro"/>
                <a:sym typeface="Source Sans Pro"/>
              </a:defRPr>
            </a:lvl5pPr>
            <a:lvl6pPr lvl="5" algn="r">
              <a:buNone/>
              <a:defRPr sz="1000">
                <a:solidFill>
                  <a:schemeClr val="lt2"/>
                </a:solidFill>
                <a:latin typeface="Source Sans Pro"/>
                <a:ea typeface="Source Sans Pro"/>
                <a:cs typeface="Source Sans Pro"/>
                <a:sym typeface="Source Sans Pro"/>
              </a:defRPr>
            </a:lvl6pPr>
            <a:lvl7pPr lvl="6" algn="r">
              <a:buNone/>
              <a:defRPr sz="1000">
                <a:solidFill>
                  <a:schemeClr val="lt2"/>
                </a:solidFill>
                <a:latin typeface="Source Sans Pro"/>
                <a:ea typeface="Source Sans Pro"/>
                <a:cs typeface="Source Sans Pro"/>
                <a:sym typeface="Source Sans Pro"/>
              </a:defRPr>
            </a:lvl7pPr>
            <a:lvl8pPr lvl="7" algn="r">
              <a:buNone/>
              <a:defRPr sz="1000">
                <a:solidFill>
                  <a:schemeClr val="lt2"/>
                </a:solidFill>
                <a:latin typeface="Source Sans Pro"/>
                <a:ea typeface="Source Sans Pro"/>
                <a:cs typeface="Source Sans Pro"/>
                <a:sym typeface="Source Sans Pro"/>
              </a:defRPr>
            </a:lvl8pPr>
            <a:lvl9pPr lvl="8" algn="r">
              <a:buNone/>
              <a:defRPr sz="1000">
                <a:solidFill>
                  <a:schemeClr val="lt2"/>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9.png"/><Relationship Id="rId5"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3"/>
          <p:cNvSpPr txBox="1"/>
          <p:nvPr>
            <p:ph type="ctrTitle"/>
          </p:nvPr>
        </p:nvSpPr>
        <p:spPr>
          <a:xfrm>
            <a:off x="480150" y="321025"/>
            <a:ext cx="8183700" cy="188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Software Engineering </a:t>
            </a:r>
            <a:r>
              <a:rPr lang="en"/>
              <a:t>Major Project - Chess Engine</a:t>
            </a:r>
            <a:endParaRPr/>
          </a:p>
        </p:txBody>
      </p:sp>
      <p:sp>
        <p:nvSpPr>
          <p:cNvPr id="59" name="Google Shape;59;p13"/>
          <p:cNvSpPr txBox="1"/>
          <p:nvPr>
            <p:ph idx="1" type="subTitle"/>
          </p:nvPr>
        </p:nvSpPr>
        <p:spPr>
          <a:xfrm>
            <a:off x="589025" y="3580150"/>
            <a:ext cx="8183700" cy="86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By Danny Trieu Nguyen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Problem Statement</a:t>
            </a:r>
            <a:endParaRPr/>
          </a:p>
        </p:txBody>
      </p:sp>
      <p:sp>
        <p:nvSpPr>
          <p:cNvPr id="65" name="Google Shape;65;p14"/>
          <p:cNvSpPr txBox="1"/>
          <p:nvPr>
            <p:ph idx="1" type="body"/>
          </p:nvPr>
        </p:nvSpPr>
        <p:spPr>
          <a:xfrm>
            <a:off x="311700" y="1068425"/>
            <a:ext cx="3633600" cy="3460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35"/>
              <a:buNone/>
            </a:pPr>
            <a:r>
              <a:rPr b="1" i="1" lang="en" sz="1600" u="sng"/>
              <a:t>Users </a:t>
            </a:r>
            <a:endParaRPr b="1" i="1" sz="1600" u="sng"/>
          </a:p>
          <a:p>
            <a:pPr indent="-330200" lvl="0" marL="457200" rtl="0" algn="ctr">
              <a:spcBef>
                <a:spcPts val="1200"/>
              </a:spcBef>
              <a:spcAft>
                <a:spcPts val="0"/>
              </a:spcAft>
              <a:buSzPts val="1600"/>
              <a:buChar char="●"/>
            </a:pPr>
            <a:r>
              <a:rPr lang="en" sz="1600"/>
              <a:t>Beginner chess players</a:t>
            </a:r>
            <a:endParaRPr sz="1600"/>
          </a:p>
          <a:p>
            <a:pPr indent="-330200" lvl="0" marL="457200" rtl="0" algn="ctr">
              <a:spcBef>
                <a:spcPts val="0"/>
              </a:spcBef>
              <a:spcAft>
                <a:spcPts val="0"/>
              </a:spcAft>
              <a:buSzPts val="1600"/>
              <a:buChar char="●"/>
            </a:pPr>
            <a:r>
              <a:rPr lang="en" sz="1600"/>
              <a:t>Students learning chess</a:t>
            </a:r>
            <a:endParaRPr sz="1600"/>
          </a:p>
          <a:p>
            <a:pPr indent="-330200" lvl="0" marL="457200" rtl="0" algn="ctr">
              <a:spcBef>
                <a:spcPts val="0"/>
              </a:spcBef>
              <a:spcAft>
                <a:spcPts val="0"/>
              </a:spcAft>
              <a:buSzPts val="1600"/>
              <a:buChar char="●"/>
            </a:pPr>
            <a:r>
              <a:rPr lang="en" sz="1600"/>
              <a:t>Casual players</a:t>
            </a:r>
            <a:endParaRPr sz="1600"/>
          </a:p>
          <a:p>
            <a:pPr indent="0" lvl="0" marL="0" rtl="0" algn="ctr">
              <a:spcBef>
                <a:spcPts val="1200"/>
              </a:spcBef>
              <a:spcAft>
                <a:spcPts val="0"/>
              </a:spcAft>
              <a:buSzPts val="935"/>
              <a:buNone/>
            </a:pPr>
            <a:r>
              <a:rPr b="1" i="1" lang="en" sz="1600" u="sng"/>
              <a:t>Objectives</a:t>
            </a:r>
            <a:endParaRPr b="1" i="1" sz="1600" u="sng"/>
          </a:p>
          <a:p>
            <a:pPr indent="-330200" lvl="0" marL="457200" rtl="0" algn="ctr">
              <a:spcBef>
                <a:spcPts val="1200"/>
              </a:spcBef>
              <a:spcAft>
                <a:spcPts val="0"/>
              </a:spcAft>
              <a:buSzPts val="1600"/>
              <a:buChar char="●"/>
            </a:pPr>
            <a:r>
              <a:rPr lang="en" sz="1600"/>
              <a:t>Play against AI</a:t>
            </a:r>
            <a:endParaRPr sz="1600"/>
          </a:p>
          <a:p>
            <a:pPr indent="-330200" lvl="0" marL="457200" rtl="0" algn="ctr">
              <a:spcBef>
                <a:spcPts val="0"/>
              </a:spcBef>
              <a:spcAft>
                <a:spcPts val="0"/>
              </a:spcAft>
              <a:buSzPts val="1600"/>
              <a:buChar char="●"/>
            </a:pPr>
            <a:r>
              <a:rPr lang="en" sz="1600"/>
              <a:t>Follow official chess rules</a:t>
            </a:r>
            <a:endParaRPr sz="1600"/>
          </a:p>
          <a:p>
            <a:pPr indent="-330200" lvl="0" marL="457200" rtl="0" algn="ctr">
              <a:spcBef>
                <a:spcPts val="0"/>
              </a:spcBef>
              <a:spcAft>
                <a:spcPts val="0"/>
              </a:spcAft>
              <a:buSzPts val="1600"/>
              <a:buChar char="●"/>
            </a:pPr>
            <a:r>
              <a:rPr lang="en" sz="1600"/>
              <a:t>Provide an intuitive interface</a:t>
            </a:r>
            <a:endParaRPr sz="1600"/>
          </a:p>
          <a:p>
            <a:pPr indent="-330200" lvl="0" marL="457200" rtl="0" algn="ctr">
              <a:spcBef>
                <a:spcPts val="0"/>
              </a:spcBef>
              <a:spcAft>
                <a:spcPts val="0"/>
              </a:spcAft>
              <a:buSzPts val="1600"/>
              <a:buChar char="●"/>
            </a:pPr>
            <a:r>
              <a:rPr lang="en" sz="1600"/>
              <a:t>Detect check and checkmate</a:t>
            </a:r>
            <a:endParaRPr sz="1600"/>
          </a:p>
        </p:txBody>
      </p:sp>
      <p:sp>
        <p:nvSpPr>
          <p:cNvPr id="66" name="Google Shape;66;p14"/>
          <p:cNvSpPr txBox="1"/>
          <p:nvPr>
            <p:ph idx="2" type="body"/>
          </p:nvPr>
        </p:nvSpPr>
        <p:spPr>
          <a:xfrm>
            <a:off x="5998200" y="1068425"/>
            <a:ext cx="2834100" cy="320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2"/>
              </a:buClr>
              <a:buSzPts val="935"/>
              <a:buFont typeface="Arial"/>
              <a:buNone/>
            </a:pPr>
            <a:r>
              <a:rPr b="1" i="1" lang="en" sz="1600" u="sng"/>
              <a:t>Benefits</a:t>
            </a:r>
            <a:endParaRPr b="1" i="1" sz="1600" u="sng"/>
          </a:p>
          <a:p>
            <a:pPr indent="-330200" lvl="0" marL="457200" rtl="0" algn="ctr">
              <a:spcBef>
                <a:spcPts val="1200"/>
              </a:spcBef>
              <a:spcAft>
                <a:spcPts val="0"/>
              </a:spcAft>
              <a:buSzPts val="1600"/>
              <a:buChar char="●"/>
            </a:pPr>
            <a:r>
              <a:rPr lang="en" sz="1600"/>
              <a:t>Easy to use</a:t>
            </a:r>
            <a:endParaRPr sz="1600"/>
          </a:p>
          <a:p>
            <a:pPr indent="-330200" lvl="0" marL="457200" rtl="0" algn="ctr">
              <a:spcBef>
                <a:spcPts val="0"/>
              </a:spcBef>
              <a:spcAft>
                <a:spcPts val="0"/>
              </a:spcAft>
              <a:buSzPts val="1600"/>
              <a:buChar char="●"/>
            </a:pPr>
            <a:r>
              <a:rPr lang="en" sz="1600"/>
              <a:t>Offline</a:t>
            </a:r>
            <a:endParaRPr sz="1600"/>
          </a:p>
          <a:p>
            <a:pPr indent="-330200" lvl="0" marL="457200" rtl="0" algn="ctr">
              <a:spcBef>
                <a:spcPts val="0"/>
              </a:spcBef>
              <a:spcAft>
                <a:spcPts val="0"/>
              </a:spcAft>
              <a:buSzPts val="1600"/>
              <a:buChar char="●"/>
            </a:pPr>
            <a:r>
              <a:rPr lang="en" sz="1600"/>
              <a:t>Fast</a:t>
            </a:r>
            <a:endParaRPr sz="1600"/>
          </a:p>
          <a:p>
            <a:pPr indent="-330200" lvl="0" marL="457200" rtl="0" algn="ctr">
              <a:spcBef>
                <a:spcPts val="0"/>
              </a:spcBef>
              <a:spcAft>
                <a:spcPts val="0"/>
              </a:spcAft>
              <a:buSzPts val="1600"/>
              <a:buChar char="●"/>
            </a:pPr>
            <a:r>
              <a:rPr lang="en" sz="1600"/>
              <a:t>Educational</a:t>
            </a:r>
            <a:endParaRPr sz="1600"/>
          </a:p>
          <a:p>
            <a:pPr indent="0" lvl="0" marL="0" rtl="0" algn="ctr">
              <a:spcBef>
                <a:spcPts val="1200"/>
              </a:spcBef>
              <a:spcAft>
                <a:spcPts val="0"/>
              </a:spcAft>
              <a:buClr>
                <a:schemeClr val="dk2"/>
              </a:buClr>
              <a:buSzPts val="935"/>
              <a:buFont typeface="Arial"/>
              <a:buNone/>
            </a:pPr>
            <a:r>
              <a:rPr b="1" i="1" lang="en" sz="1600" u="sng"/>
              <a:t>Visuals</a:t>
            </a:r>
            <a:endParaRPr b="1" i="1" sz="1600" u="sng"/>
          </a:p>
          <a:p>
            <a:pPr indent="-330200" lvl="0" marL="457200" rtl="0" algn="ctr">
              <a:spcBef>
                <a:spcPts val="1200"/>
              </a:spcBef>
              <a:spcAft>
                <a:spcPts val="0"/>
              </a:spcAft>
              <a:buSzPts val="1600"/>
              <a:buChar char="●"/>
            </a:pPr>
            <a:r>
              <a:rPr lang="en" sz="1600"/>
              <a:t>Chess board image</a:t>
            </a:r>
            <a:endParaRPr sz="1600"/>
          </a:p>
          <a:p>
            <a:pPr indent="-330200" lvl="0" marL="457200" rtl="0" algn="ctr">
              <a:spcBef>
                <a:spcPts val="0"/>
              </a:spcBef>
              <a:spcAft>
                <a:spcPts val="0"/>
              </a:spcAft>
              <a:buSzPts val="1600"/>
              <a:buChar char="●"/>
            </a:pPr>
            <a:r>
              <a:rPr lang="en" sz="1600"/>
              <a:t>User personas</a:t>
            </a:r>
            <a:endParaRPr sz="1600"/>
          </a:p>
          <a:p>
            <a:pPr indent="-330200" lvl="0" marL="457200" rtl="0" algn="ctr">
              <a:spcBef>
                <a:spcPts val="0"/>
              </a:spcBef>
              <a:spcAft>
                <a:spcPts val="0"/>
              </a:spcAft>
              <a:buSzPts val="1600"/>
              <a:buChar char="●"/>
            </a:pPr>
            <a:r>
              <a:rPr lang="en" sz="1600"/>
              <a:t>Goal diagram</a:t>
            </a:r>
            <a:endParaRPr sz="1600"/>
          </a:p>
        </p:txBody>
      </p:sp>
      <p:pic>
        <p:nvPicPr>
          <p:cNvPr id="67" name="Google Shape;67;p14"/>
          <p:cNvPicPr preferRelativeResize="0"/>
          <p:nvPr/>
        </p:nvPicPr>
        <p:blipFill>
          <a:blip r:embed="rId3">
            <a:alphaModFix/>
          </a:blip>
          <a:stretch>
            <a:fillRect/>
          </a:stretch>
        </p:blipFill>
        <p:spPr>
          <a:xfrm>
            <a:off x="4282382" y="1997623"/>
            <a:ext cx="1343800" cy="1343800"/>
          </a:xfrm>
          <a:prstGeom prst="rect">
            <a:avLst/>
          </a:prstGeom>
          <a:noFill/>
          <a:ln>
            <a:noFill/>
          </a:ln>
        </p:spPr>
      </p:pic>
      <p:cxnSp>
        <p:nvCxnSpPr>
          <p:cNvPr id="68" name="Google Shape;68;p14"/>
          <p:cNvCxnSpPr/>
          <p:nvPr/>
        </p:nvCxnSpPr>
        <p:spPr>
          <a:xfrm rot="10800000">
            <a:off x="3517700" y="1997200"/>
            <a:ext cx="700800" cy="336300"/>
          </a:xfrm>
          <a:prstGeom prst="straightConnector1">
            <a:avLst/>
          </a:prstGeom>
          <a:noFill/>
          <a:ln cap="flat" cmpd="sng" w="9525">
            <a:solidFill>
              <a:schemeClr val="dk2"/>
            </a:solidFill>
            <a:prstDash val="solid"/>
            <a:round/>
            <a:headEnd len="med" w="med" type="none"/>
            <a:tailEnd len="med" w="med" type="none"/>
          </a:ln>
        </p:spPr>
      </p:cxnSp>
      <p:cxnSp>
        <p:nvCxnSpPr>
          <p:cNvPr id="69" name="Google Shape;69;p14"/>
          <p:cNvCxnSpPr/>
          <p:nvPr/>
        </p:nvCxnSpPr>
        <p:spPr>
          <a:xfrm flipH="1">
            <a:off x="3728000" y="3125425"/>
            <a:ext cx="665700" cy="483300"/>
          </a:xfrm>
          <a:prstGeom prst="straightConnector1">
            <a:avLst/>
          </a:prstGeom>
          <a:noFill/>
          <a:ln cap="flat" cmpd="sng" w="9525">
            <a:solidFill>
              <a:schemeClr val="dk2"/>
            </a:solidFill>
            <a:prstDash val="solid"/>
            <a:round/>
            <a:headEnd len="med" w="med" type="none"/>
            <a:tailEnd len="med" w="med" type="none"/>
          </a:ln>
        </p:spPr>
      </p:cxnSp>
      <p:cxnSp>
        <p:nvCxnSpPr>
          <p:cNvPr id="70" name="Google Shape;70;p14"/>
          <p:cNvCxnSpPr/>
          <p:nvPr/>
        </p:nvCxnSpPr>
        <p:spPr>
          <a:xfrm flipH="1" rot="10800000">
            <a:off x="5690075" y="2004250"/>
            <a:ext cx="868800" cy="378300"/>
          </a:xfrm>
          <a:prstGeom prst="straightConnector1">
            <a:avLst/>
          </a:prstGeom>
          <a:noFill/>
          <a:ln cap="flat" cmpd="sng" w="9525">
            <a:solidFill>
              <a:schemeClr val="dk2"/>
            </a:solidFill>
            <a:prstDash val="solid"/>
            <a:round/>
            <a:headEnd len="med" w="med" type="none"/>
            <a:tailEnd len="med" w="med" type="none"/>
          </a:ln>
        </p:spPr>
      </p:cxnSp>
      <p:cxnSp>
        <p:nvCxnSpPr>
          <p:cNvPr id="71" name="Google Shape;71;p14"/>
          <p:cNvCxnSpPr/>
          <p:nvPr/>
        </p:nvCxnSpPr>
        <p:spPr>
          <a:xfrm>
            <a:off x="5591975" y="3062275"/>
            <a:ext cx="861900" cy="6309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5"/>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Technology Used</a:t>
            </a:r>
            <a:endParaRPr/>
          </a:p>
        </p:txBody>
      </p:sp>
      <p:sp>
        <p:nvSpPr>
          <p:cNvPr id="77" name="Google Shape;77;p15"/>
          <p:cNvSpPr txBox="1"/>
          <p:nvPr>
            <p:ph idx="1" type="body"/>
          </p:nvPr>
        </p:nvSpPr>
        <p:spPr>
          <a:xfrm>
            <a:off x="1502975" y="1166525"/>
            <a:ext cx="7329300" cy="3866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i="1" lang="en" u="sng"/>
              <a:t>Python</a:t>
            </a:r>
            <a:endParaRPr b="1" i="1" u="sng"/>
          </a:p>
          <a:p>
            <a:pPr indent="-342900" lvl="0" marL="457200" rtl="0" algn="l">
              <a:spcBef>
                <a:spcPts val="1200"/>
              </a:spcBef>
              <a:spcAft>
                <a:spcPts val="0"/>
              </a:spcAft>
              <a:buSzPts val="1800"/>
              <a:buChar char="●"/>
            </a:pPr>
            <a:r>
              <a:rPr lang="en"/>
              <a:t>Purpose: Main programming language</a:t>
            </a:r>
            <a:endParaRPr/>
          </a:p>
          <a:p>
            <a:pPr indent="-342900" lvl="0" marL="457200" rtl="0" algn="l">
              <a:spcBef>
                <a:spcPts val="0"/>
              </a:spcBef>
              <a:spcAft>
                <a:spcPts val="0"/>
              </a:spcAft>
              <a:buSzPts val="1800"/>
              <a:buChar char="●"/>
            </a:pPr>
            <a:r>
              <a:rPr lang="en"/>
              <a:t>Reason: Easy to read and Excellent libraries</a:t>
            </a:r>
            <a:endParaRPr/>
          </a:p>
          <a:p>
            <a:pPr indent="0" lvl="0" marL="0" rtl="0" algn="l">
              <a:spcBef>
                <a:spcPts val="1200"/>
              </a:spcBef>
              <a:spcAft>
                <a:spcPts val="0"/>
              </a:spcAft>
              <a:buNone/>
            </a:pPr>
            <a:r>
              <a:rPr b="1" i="1" lang="en" u="sng"/>
              <a:t>VS Code</a:t>
            </a:r>
            <a:endParaRPr b="1" i="1" u="sng"/>
          </a:p>
          <a:p>
            <a:pPr indent="-342900" lvl="0" marL="457200" rtl="0" algn="l">
              <a:spcBef>
                <a:spcPts val="1200"/>
              </a:spcBef>
              <a:spcAft>
                <a:spcPts val="0"/>
              </a:spcAft>
              <a:buSzPts val="1800"/>
              <a:buChar char="●"/>
            </a:pPr>
            <a:r>
              <a:rPr lang="en"/>
              <a:t>Purpose: Programming environment</a:t>
            </a:r>
            <a:endParaRPr/>
          </a:p>
          <a:p>
            <a:pPr indent="-342900" lvl="0" marL="457200" rtl="0" algn="l">
              <a:spcBef>
                <a:spcPts val="0"/>
              </a:spcBef>
              <a:spcAft>
                <a:spcPts val="0"/>
              </a:spcAft>
              <a:buSzPts val="1800"/>
              <a:buChar char="●"/>
            </a:pPr>
            <a:r>
              <a:rPr lang="en"/>
              <a:t>Reason: Debugger, Extensions and Git integration</a:t>
            </a:r>
            <a:endParaRPr/>
          </a:p>
          <a:p>
            <a:pPr indent="0" lvl="0" marL="0" rtl="0" algn="l">
              <a:spcBef>
                <a:spcPts val="1200"/>
              </a:spcBef>
              <a:spcAft>
                <a:spcPts val="0"/>
              </a:spcAft>
              <a:buNone/>
            </a:pPr>
            <a:r>
              <a:rPr b="1" i="1" lang="en" u="sng"/>
              <a:t>GitHub</a:t>
            </a:r>
            <a:endParaRPr b="1" i="1" u="sng"/>
          </a:p>
          <a:p>
            <a:pPr indent="-342900" lvl="0" marL="457200" rtl="0" algn="l">
              <a:spcBef>
                <a:spcPts val="1200"/>
              </a:spcBef>
              <a:spcAft>
                <a:spcPts val="0"/>
              </a:spcAft>
              <a:buSzPts val="1800"/>
              <a:buChar char="●"/>
            </a:pPr>
            <a:r>
              <a:rPr lang="en"/>
              <a:t>Purpose:  Version control</a:t>
            </a:r>
            <a:endParaRPr/>
          </a:p>
          <a:p>
            <a:pPr indent="-342900" lvl="0" marL="457200" rtl="0" algn="l">
              <a:spcBef>
                <a:spcPts val="0"/>
              </a:spcBef>
              <a:spcAft>
                <a:spcPts val="0"/>
              </a:spcAft>
              <a:buSzPts val="1800"/>
              <a:buChar char="●"/>
            </a:pPr>
            <a:r>
              <a:rPr lang="en"/>
              <a:t>Reason: Tracks changes, Backup and Collaboration</a:t>
            </a:r>
            <a:endParaRPr/>
          </a:p>
        </p:txBody>
      </p:sp>
      <p:pic>
        <p:nvPicPr>
          <p:cNvPr id="78" name="Google Shape;78;p15"/>
          <p:cNvPicPr preferRelativeResize="0"/>
          <p:nvPr/>
        </p:nvPicPr>
        <p:blipFill>
          <a:blip r:embed="rId3">
            <a:alphaModFix/>
          </a:blip>
          <a:stretch>
            <a:fillRect/>
          </a:stretch>
        </p:blipFill>
        <p:spPr>
          <a:xfrm>
            <a:off x="311700" y="1379600"/>
            <a:ext cx="915250" cy="915250"/>
          </a:xfrm>
          <a:prstGeom prst="rect">
            <a:avLst/>
          </a:prstGeom>
          <a:noFill/>
          <a:ln>
            <a:noFill/>
          </a:ln>
        </p:spPr>
      </p:pic>
      <p:pic>
        <p:nvPicPr>
          <p:cNvPr id="79" name="Google Shape;79;p15"/>
          <p:cNvPicPr preferRelativeResize="0"/>
          <p:nvPr/>
        </p:nvPicPr>
        <p:blipFill>
          <a:blip r:embed="rId4">
            <a:alphaModFix/>
          </a:blip>
          <a:stretch>
            <a:fillRect/>
          </a:stretch>
        </p:blipFill>
        <p:spPr>
          <a:xfrm>
            <a:off x="311700" y="2685725"/>
            <a:ext cx="915250" cy="915250"/>
          </a:xfrm>
          <a:prstGeom prst="rect">
            <a:avLst/>
          </a:prstGeom>
          <a:noFill/>
          <a:ln>
            <a:noFill/>
          </a:ln>
        </p:spPr>
      </p:pic>
      <p:pic>
        <p:nvPicPr>
          <p:cNvPr id="80" name="Google Shape;80;p15"/>
          <p:cNvPicPr preferRelativeResize="0"/>
          <p:nvPr/>
        </p:nvPicPr>
        <p:blipFill>
          <a:blip r:embed="rId5">
            <a:alphaModFix/>
          </a:blip>
          <a:stretch>
            <a:fillRect/>
          </a:stretch>
        </p:blipFill>
        <p:spPr>
          <a:xfrm>
            <a:off x="311700" y="3907775"/>
            <a:ext cx="915250" cy="9152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6"/>
          <p:cNvSpPr txBox="1"/>
          <p:nvPr/>
        </p:nvSpPr>
        <p:spPr>
          <a:xfrm>
            <a:off x="743100" y="942875"/>
            <a:ext cx="2299800" cy="3947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i="1" lang="en" sz="1200" u="sng">
                <a:solidFill>
                  <a:schemeClr val="lt2"/>
                </a:solidFill>
                <a:latin typeface="Source Sans Pro"/>
                <a:ea typeface="Source Sans Pro"/>
                <a:cs typeface="Source Sans Pro"/>
                <a:sym typeface="Source Sans Pro"/>
              </a:rPr>
              <a:t>Board</a:t>
            </a:r>
            <a:endParaRPr b="1" i="1" sz="1200" u="sng">
              <a:solidFill>
                <a:schemeClr val="lt2"/>
              </a:solidFill>
              <a:latin typeface="Source Sans Pro"/>
              <a:ea typeface="Source Sans Pro"/>
              <a:cs typeface="Source Sans Pro"/>
              <a:sym typeface="Source Sans Pro"/>
            </a:endParaRPr>
          </a:p>
          <a:p>
            <a:pPr indent="0" lvl="0" marL="0" rtl="0" algn="ctr">
              <a:spcBef>
                <a:spcPts val="0"/>
              </a:spcBef>
              <a:spcAft>
                <a:spcPts val="0"/>
              </a:spcAft>
              <a:buNone/>
            </a:pPr>
            <a:r>
              <a:t/>
            </a:r>
            <a:endParaRPr sz="1200">
              <a:solidFill>
                <a:schemeClr val="lt2"/>
              </a:solidFill>
              <a:latin typeface="Source Sans Pro"/>
              <a:ea typeface="Source Sans Pro"/>
              <a:cs typeface="Source Sans Pro"/>
              <a:sym typeface="Source Sans Pro"/>
            </a:endParaRPr>
          </a:p>
          <a:p>
            <a:pPr indent="0" lvl="0" marL="0" rtl="0" algn="ctr">
              <a:spcBef>
                <a:spcPts val="0"/>
              </a:spcBef>
              <a:spcAft>
                <a:spcPts val="0"/>
              </a:spcAft>
              <a:buNone/>
            </a:pPr>
            <a:r>
              <a:rPr lang="en" sz="1200">
                <a:solidFill>
                  <a:schemeClr val="lt2"/>
                </a:solidFill>
                <a:latin typeface="Source Sans Pro"/>
                <a:ea typeface="Source Sans Pro"/>
                <a:cs typeface="Source Sans Pro"/>
                <a:sym typeface="Source Sans Pro"/>
              </a:rPr>
              <a:t>Stores positions.</a:t>
            </a:r>
            <a:endParaRPr sz="1200">
              <a:solidFill>
                <a:schemeClr val="lt2"/>
              </a:solidFill>
              <a:latin typeface="Source Sans Pro"/>
              <a:ea typeface="Source Sans Pro"/>
              <a:cs typeface="Source Sans Pro"/>
              <a:sym typeface="Source Sans Pro"/>
            </a:endParaRPr>
          </a:p>
          <a:p>
            <a:pPr indent="0" lvl="0" marL="0" rtl="0" algn="ctr">
              <a:spcBef>
                <a:spcPts val="0"/>
              </a:spcBef>
              <a:spcAft>
                <a:spcPts val="0"/>
              </a:spcAft>
              <a:buNone/>
            </a:pPr>
            <a:r>
              <a:t/>
            </a:r>
            <a:endParaRPr sz="1200">
              <a:solidFill>
                <a:schemeClr val="lt2"/>
              </a:solidFill>
              <a:latin typeface="Source Sans Pro"/>
              <a:ea typeface="Source Sans Pro"/>
              <a:cs typeface="Source Sans Pro"/>
              <a:sym typeface="Source Sans Pro"/>
            </a:endParaRPr>
          </a:p>
          <a:p>
            <a:pPr indent="0" lvl="0" marL="0" rtl="0" algn="ctr">
              <a:spcBef>
                <a:spcPts val="0"/>
              </a:spcBef>
              <a:spcAft>
                <a:spcPts val="0"/>
              </a:spcAft>
              <a:buNone/>
            </a:pPr>
            <a:r>
              <a:rPr b="1" i="1" lang="en" sz="1200" u="sng">
                <a:solidFill>
                  <a:schemeClr val="lt2"/>
                </a:solidFill>
                <a:latin typeface="Source Sans Pro"/>
                <a:ea typeface="Source Sans Pro"/>
                <a:cs typeface="Source Sans Pro"/>
                <a:sym typeface="Source Sans Pro"/>
              </a:rPr>
              <a:t>GUI</a:t>
            </a:r>
            <a:endParaRPr b="1" i="1" sz="1200" u="sng">
              <a:solidFill>
                <a:schemeClr val="lt2"/>
              </a:solidFill>
              <a:latin typeface="Source Sans Pro"/>
              <a:ea typeface="Source Sans Pro"/>
              <a:cs typeface="Source Sans Pro"/>
              <a:sym typeface="Source Sans Pro"/>
            </a:endParaRPr>
          </a:p>
          <a:p>
            <a:pPr indent="0" lvl="0" marL="0" rtl="0" algn="ctr">
              <a:spcBef>
                <a:spcPts val="0"/>
              </a:spcBef>
              <a:spcAft>
                <a:spcPts val="0"/>
              </a:spcAft>
              <a:buNone/>
            </a:pPr>
            <a:r>
              <a:t/>
            </a:r>
            <a:endParaRPr sz="1200">
              <a:solidFill>
                <a:schemeClr val="lt2"/>
              </a:solidFill>
              <a:latin typeface="Source Sans Pro"/>
              <a:ea typeface="Source Sans Pro"/>
              <a:cs typeface="Source Sans Pro"/>
              <a:sym typeface="Source Sans Pro"/>
            </a:endParaRPr>
          </a:p>
          <a:p>
            <a:pPr indent="0" lvl="0" marL="0" rtl="0" algn="ctr">
              <a:spcBef>
                <a:spcPts val="0"/>
              </a:spcBef>
              <a:spcAft>
                <a:spcPts val="0"/>
              </a:spcAft>
              <a:buNone/>
            </a:pPr>
            <a:r>
              <a:rPr lang="en" sz="1200">
                <a:solidFill>
                  <a:schemeClr val="lt2"/>
                </a:solidFill>
                <a:latin typeface="Source Sans Pro"/>
                <a:ea typeface="Source Sans Pro"/>
                <a:cs typeface="Source Sans Pro"/>
                <a:sym typeface="Source Sans Pro"/>
              </a:rPr>
              <a:t>Displays game.</a:t>
            </a:r>
            <a:endParaRPr sz="1200">
              <a:solidFill>
                <a:schemeClr val="lt2"/>
              </a:solidFill>
              <a:latin typeface="Source Sans Pro"/>
              <a:ea typeface="Source Sans Pro"/>
              <a:cs typeface="Source Sans Pro"/>
              <a:sym typeface="Source Sans Pro"/>
            </a:endParaRPr>
          </a:p>
          <a:p>
            <a:pPr indent="0" lvl="0" marL="0" rtl="0" algn="ctr">
              <a:spcBef>
                <a:spcPts val="0"/>
              </a:spcBef>
              <a:spcAft>
                <a:spcPts val="0"/>
              </a:spcAft>
              <a:buNone/>
            </a:pPr>
            <a:r>
              <a:t/>
            </a:r>
            <a:endParaRPr sz="1200">
              <a:solidFill>
                <a:schemeClr val="lt2"/>
              </a:solidFill>
              <a:latin typeface="Source Sans Pro"/>
              <a:ea typeface="Source Sans Pro"/>
              <a:cs typeface="Source Sans Pro"/>
              <a:sym typeface="Source Sans Pro"/>
            </a:endParaRPr>
          </a:p>
          <a:p>
            <a:pPr indent="0" lvl="0" marL="0" rtl="0" algn="ctr">
              <a:spcBef>
                <a:spcPts val="0"/>
              </a:spcBef>
              <a:spcAft>
                <a:spcPts val="0"/>
              </a:spcAft>
              <a:buNone/>
            </a:pPr>
            <a:r>
              <a:rPr b="1" i="1" lang="en" sz="1200" u="sng">
                <a:solidFill>
                  <a:schemeClr val="lt2"/>
                </a:solidFill>
                <a:latin typeface="Source Sans Pro"/>
                <a:ea typeface="Source Sans Pro"/>
                <a:cs typeface="Source Sans Pro"/>
                <a:sym typeface="Source Sans Pro"/>
              </a:rPr>
              <a:t>AI</a:t>
            </a:r>
            <a:endParaRPr b="1" i="1" sz="1200" u="sng">
              <a:solidFill>
                <a:schemeClr val="lt2"/>
              </a:solidFill>
              <a:latin typeface="Source Sans Pro"/>
              <a:ea typeface="Source Sans Pro"/>
              <a:cs typeface="Source Sans Pro"/>
              <a:sym typeface="Source Sans Pro"/>
            </a:endParaRPr>
          </a:p>
          <a:p>
            <a:pPr indent="0" lvl="0" marL="0" rtl="0" algn="ctr">
              <a:spcBef>
                <a:spcPts val="0"/>
              </a:spcBef>
              <a:spcAft>
                <a:spcPts val="0"/>
              </a:spcAft>
              <a:buNone/>
            </a:pPr>
            <a:r>
              <a:t/>
            </a:r>
            <a:endParaRPr sz="1200">
              <a:solidFill>
                <a:schemeClr val="lt2"/>
              </a:solidFill>
              <a:latin typeface="Source Sans Pro"/>
              <a:ea typeface="Source Sans Pro"/>
              <a:cs typeface="Source Sans Pro"/>
              <a:sym typeface="Source Sans Pro"/>
            </a:endParaRPr>
          </a:p>
          <a:p>
            <a:pPr indent="0" lvl="0" marL="0" rtl="0" algn="ctr">
              <a:spcBef>
                <a:spcPts val="0"/>
              </a:spcBef>
              <a:spcAft>
                <a:spcPts val="0"/>
              </a:spcAft>
              <a:buNone/>
            </a:pPr>
            <a:r>
              <a:rPr lang="en" sz="1200">
                <a:solidFill>
                  <a:schemeClr val="lt2"/>
                </a:solidFill>
                <a:latin typeface="Source Sans Pro"/>
                <a:ea typeface="Source Sans Pro"/>
                <a:cs typeface="Source Sans Pro"/>
                <a:sym typeface="Source Sans Pro"/>
              </a:rPr>
              <a:t>Calculates best move.</a:t>
            </a:r>
            <a:endParaRPr sz="1200">
              <a:solidFill>
                <a:schemeClr val="lt2"/>
              </a:solidFill>
              <a:latin typeface="Source Sans Pro"/>
              <a:ea typeface="Source Sans Pro"/>
              <a:cs typeface="Source Sans Pro"/>
              <a:sym typeface="Source Sans Pro"/>
            </a:endParaRPr>
          </a:p>
          <a:p>
            <a:pPr indent="0" lvl="0" marL="0" rtl="0" algn="ctr">
              <a:spcBef>
                <a:spcPts val="0"/>
              </a:spcBef>
              <a:spcAft>
                <a:spcPts val="0"/>
              </a:spcAft>
              <a:buNone/>
            </a:pPr>
            <a:r>
              <a:t/>
            </a:r>
            <a:endParaRPr sz="1200">
              <a:solidFill>
                <a:schemeClr val="lt2"/>
              </a:solidFill>
              <a:latin typeface="Source Sans Pro"/>
              <a:ea typeface="Source Sans Pro"/>
              <a:cs typeface="Source Sans Pro"/>
              <a:sym typeface="Source Sans Pro"/>
            </a:endParaRPr>
          </a:p>
          <a:p>
            <a:pPr indent="0" lvl="0" marL="0" rtl="0" algn="ctr">
              <a:spcBef>
                <a:spcPts val="0"/>
              </a:spcBef>
              <a:spcAft>
                <a:spcPts val="0"/>
              </a:spcAft>
              <a:buNone/>
            </a:pPr>
            <a:r>
              <a:rPr b="1" i="1" lang="en" sz="1200" u="sng">
                <a:solidFill>
                  <a:schemeClr val="lt2"/>
                </a:solidFill>
                <a:latin typeface="Source Sans Pro"/>
                <a:ea typeface="Source Sans Pro"/>
                <a:cs typeface="Source Sans Pro"/>
                <a:sym typeface="Source Sans Pro"/>
              </a:rPr>
              <a:t>Move Validator</a:t>
            </a:r>
            <a:endParaRPr b="1" i="1" sz="1200" u="sng">
              <a:solidFill>
                <a:schemeClr val="lt2"/>
              </a:solidFill>
              <a:latin typeface="Source Sans Pro"/>
              <a:ea typeface="Source Sans Pro"/>
              <a:cs typeface="Source Sans Pro"/>
              <a:sym typeface="Source Sans Pro"/>
            </a:endParaRPr>
          </a:p>
          <a:p>
            <a:pPr indent="0" lvl="0" marL="0" rtl="0" algn="ctr">
              <a:spcBef>
                <a:spcPts val="0"/>
              </a:spcBef>
              <a:spcAft>
                <a:spcPts val="0"/>
              </a:spcAft>
              <a:buNone/>
            </a:pPr>
            <a:r>
              <a:t/>
            </a:r>
            <a:endParaRPr sz="1200">
              <a:solidFill>
                <a:schemeClr val="lt2"/>
              </a:solidFill>
              <a:latin typeface="Source Sans Pro"/>
              <a:ea typeface="Source Sans Pro"/>
              <a:cs typeface="Source Sans Pro"/>
              <a:sym typeface="Source Sans Pro"/>
            </a:endParaRPr>
          </a:p>
          <a:p>
            <a:pPr indent="0" lvl="0" marL="0" rtl="0" algn="ctr">
              <a:spcBef>
                <a:spcPts val="0"/>
              </a:spcBef>
              <a:spcAft>
                <a:spcPts val="0"/>
              </a:spcAft>
              <a:buNone/>
            </a:pPr>
            <a:r>
              <a:rPr lang="en" sz="1200">
                <a:solidFill>
                  <a:schemeClr val="lt2"/>
                </a:solidFill>
                <a:latin typeface="Source Sans Pro"/>
                <a:ea typeface="Source Sans Pro"/>
                <a:cs typeface="Source Sans Pro"/>
                <a:sym typeface="Source Sans Pro"/>
              </a:rPr>
              <a:t>Checks legal moves.</a:t>
            </a:r>
            <a:endParaRPr sz="1200">
              <a:solidFill>
                <a:schemeClr val="lt2"/>
              </a:solidFill>
              <a:latin typeface="Source Sans Pro"/>
              <a:ea typeface="Source Sans Pro"/>
              <a:cs typeface="Source Sans Pro"/>
              <a:sym typeface="Source Sans Pro"/>
            </a:endParaRPr>
          </a:p>
          <a:p>
            <a:pPr indent="0" lvl="0" marL="0" rtl="0" algn="ctr">
              <a:spcBef>
                <a:spcPts val="0"/>
              </a:spcBef>
              <a:spcAft>
                <a:spcPts val="0"/>
              </a:spcAft>
              <a:buNone/>
            </a:pPr>
            <a:r>
              <a:t/>
            </a:r>
            <a:endParaRPr sz="1200">
              <a:solidFill>
                <a:schemeClr val="lt2"/>
              </a:solidFill>
              <a:latin typeface="Source Sans Pro"/>
              <a:ea typeface="Source Sans Pro"/>
              <a:cs typeface="Source Sans Pro"/>
              <a:sym typeface="Source Sans Pro"/>
            </a:endParaRPr>
          </a:p>
          <a:p>
            <a:pPr indent="0" lvl="0" marL="0" rtl="0" algn="ctr">
              <a:spcBef>
                <a:spcPts val="0"/>
              </a:spcBef>
              <a:spcAft>
                <a:spcPts val="0"/>
              </a:spcAft>
              <a:buNone/>
            </a:pPr>
            <a:r>
              <a:rPr b="1" i="1" lang="en" sz="1200" u="sng">
                <a:solidFill>
                  <a:schemeClr val="lt2"/>
                </a:solidFill>
                <a:latin typeface="Source Sans Pro"/>
                <a:ea typeface="Source Sans Pro"/>
                <a:cs typeface="Source Sans Pro"/>
                <a:sym typeface="Source Sans Pro"/>
              </a:rPr>
              <a:t>Save System</a:t>
            </a:r>
            <a:endParaRPr b="1" i="1" sz="1200" u="sng">
              <a:solidFill>
                <a:schemeClr val="lt2"/>
              </a:solidFill>
              <a:latin typeface="Source Sans Pro"/>
              <a:ea typeface="Source Sans Pro"/>
              <a:cs typeface="Source Sans Pro"/>
              <a:sym typeface="Source Sans Pro"/>
            </a:endParaRPr>
          </a:p>
          <a:p>
            <a:pPr indent="0" lvl="0" marL="0" rtl="0" algn="ctr">
              <a:spcBef>
                <a:spcPts val="0"/>
              </a:spcBef>
              <a:spcAft>
                <a:spcPts val="0"/>
              </a:spcAft>
              <a:buNone/>
            </a:pPr>
            <a:r>
              <a:t/>
            </a:r>
            <a:endParaRPr sz="1200">
              <a:solidFill>
                <a:schemeClr val="lt2"/>
              </a:solidFill>
              <a:latin typeface="Source Sans Pro"/>
              <a:ea typeface="Source Sans Pro"/>
              <a:cs typeface="Source Sans Pro"/>
              <a:sym typeface="Source Sans Pro"/>
            </a:endParaRPr>
          </a:p>
          <a:p>
            <a:pPr indent="0" lvl="0" marL="0" rtl="0" algn="ctr">
              <a:spcBef>
                <a:spcPts val="0"/>
              </a:spcBef>
              <a:spcAft>
                <a:spcPts val="0"/>
              </a:spcAft>
              <a:buNone/>
            </a:pPr>
            <a:r>
              <a:rPr lang="en" sz="1200">
                <a:solidFill>
                  <a:schemeClr val="lt2"/>
                </a:solidFill>
                <a:latin typeface="Source Sans Pro"/>
                <a:ea typeface="Source Sans Pro"/>
                <a:cs typeface="Source Sans Pro"/>
                <a:sym typeface="Source Sans Pro"/>
              </a:rPr>
              <a:t>Stores games.</a:t>
            </a:r>
            <a:endParaRPr sz="1200">
              <a:solidFill>
                <a:schemeClr val="lt2"/>
              </a:solidFill>
              <a:latin typeface="Source Sans Pro"/>
              <a:ea typeface="Source Sans Pro"/>
              <a:cs typeface="Source Sans Pro"/>
              <a:sym typeface="Source Sans Pro"/>
            </a:endParaRPr>
          </a:p>
        </p:txBody>
      </p:sp>
      <p:pic>
        <p:nvPicPr>
          <p:cNvPr id="86" name="Google Shape;86;p16"/>
          <p:cNvPicPr preferRelativeResize="0"/>
          <p:nvPr/>
        </p:nvPicPr>
        <p:blipFill rotWithShape="1">
          <a:blip r:embed="rId3">
            <a:alphaModFix/>
          </a:blip>
          <a:srcRect b="1685" l="1164" r="1871" t="1491"/>
          <a:stretch/>
        </p:blipFill>
        <p:spPr>
          <a:xfrm>
            <a:off x="3596600" y="397575"/>
            <a:ext cx="5370800" cy="4366725"/>
          </a:xfrm>
          <a:prstGeom prst="rect">
            <a:avLst/>
          </a:prstGeom>
          <a:noFill/>
          <a:ln>
            <a:noFill/>
          </a:ln>
        </p:spPr>
      </p:pic>
      <p:sp>
        <p:nvSpPr>
          <p:cNvPr id="87" name="Google Shape;87;p16"/>
          <p:cNvSpPr txBox="1"/>
          <p:nvPr>
            <p:ph type="title"/>
          </p:nvPr>
        </p:nvSpPr>
        <p:spPr>
          <a:xfrm>
            <a:off x="311700" y="31947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System Architecture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7"/>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Code Structure</a:t>
            </a:r>
            <a:endParaRPr/>
          </a:p>
        </p:txBody>
      </p:sp>
      <p:sp>
        <p:nvSpPr>
          <p:cNvPr id="93" name="Google Shape;93;p17"/>
          <p:cNvSpPr txBox="1"/>
          <p:nvPr>
            <p:ph idx="1" type="body"/>
          </p:nvPr>
        </p:nvSpPr>
        <p:spPr>
          <a:xfrm>
            <a:off x="388900" y="1068425"/>
            <a:ext cx="57294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Clr>
                <a:schemeClr val="dk2"/>
              </a:buClr>
              <a:buSzPts val="688"/>
              <a:buFont typeface="Arial"/>
              <a:buNone/>
            </a:pPr>
            <a:r>
              <a:rPr lang="en" sz="1325"/>
              <a:t>The codebase is organised using a modular object‑oriented structure.</a:t>
            </a:r>
            <a:endParaRPr sz="1325"/>
          </a:p>
          <a:p>
            <a:pPr indent="0" lvl="0" marL="0" rtl="0" algn="l">
              <a:lnSpc>
                <a:spcPct val="95000"/>
              </a:lnSpc>
              <a:spcBef>
                <a:spcPts val="1200"/>
              </a:spcBef>
              <a:spcAft>
                <a:spcPts val="0"/>
              </a:spcAft>
              <a:buClr>
                <a:schemeClr val="dk2"/>
              </a:buClr>
              <a:buSzPts val="688"/>
              <a:buFont typeface="Arial"/>
              <a:buNone/>
            </a:pPr>
            <a:r>
              <a:rPr lang="en" sz="1325"/>
              <a:t>main.py runs the game loop and handles user input, while game.py manages rendering, themes, and interaction logic.</a:t>
            </a:r>
            <a:endParaRPr sz="1325"/>
          </a:p>
          <a:p>
            <a:pPr indent="0" lvl="0" marL="0" rtl="0" algn="l">
              <a:lnSpc>
                <a:spcPct val="95000"/>
              </a:lnSpc>
              <a:spcBef>
                <a:spcPts val="1200"/>
              </a:spcBef>
              <a:spcAft>
                <a:spcPts val="0"/>
              </a:spcAft>
              <a:buClr>
                <a:schemeClr val="dk2"/>
              </a:buClr>
              <a:buSzPts val="688"/>
              <a:buFont typeface="Arial"/>
              <a:buNone/>
            </a:pPr>
            <a:r>
              <a:rPr lang="en" sz="1325"/>
              <a:t>The board.py module contains the full chess rules engine, including move generation and validation.</a:t>
            </a:r>
            <a:endParaRPr sz="1325"/>
          </a:p>
          <a:p>
            <a:pPr indent="0" lvl="0" marL="0" rtl="0" algn="l">
              <a:lnSpc>
                <a:spcPct val="95000"/>
              </a:lnSpc>
              <a:spcBef>
                <a:spcPts val="1200"/>
              </a:spcBef>
              <a:spcAft>
                <a:spcPts val="0"/>
              </a:spcAft>
              <a:buClr>
                <a:schemeClr val="dk2"/>
              </a:buClr>
              <a:buSzPts val="688"/>
              <a:buFont typeface="Arial"/>
              <a:buNone/>
            </a:pPr>
            <a:r>
              <a:rPr lang="en" sz="1325"/>
              <a:t>Supporting modules such as piece.py, square.py, and move.py define the core data structures used throughout the engine.</a:t>
            </a:r>
            <a:endParaRPr sz="1325"/>
          </a:p>
          <a:p>
            <a:pPr indent="0" lvl="0" marL="0" rtl="0" algn="l">
              <a:lnSpc>
                <a:spcPct val="95000"/>
              </a:lnSpc>
              <a:spcBef>
                <a:spcPts val="1200"/>
              </a:spcBef>
              <a:spcAft>
                <a:spcPts val="0"/>
              </a:spcAft>
              <a:buClr>
                <a:schemeClr val="dk2"/>
              </a:buClr>
              <a:buSzPts val="688"/>
              <a:buFont typeface="Arial"/>
              <a:buNone/>
            </a:pPr>
            <a:r>
              <a:rPr lang="en" sz="1325"/>
              <a:t>The dragger.py module handles drag‑and‑drop movement, and config.py, theme.py, and color.py manage styling and sound configuration.</a:t>
            </a:r>
            <a:endParaRPr sz="1325"/>
          </a:p>
          <a:p>
            <a:pPr indent="0" lvl="0" marL="0" rtl="0" algn="l">
              <a:lnSpc>
                <a:spcPct val="95000"/>
              </a:lnSpc>
              <a:spcBef>
                <a:spcPts val="1200"/>
              </a:spcBef>
              <a:spcAft>
                <a:spcPts val="0"/>
              </a:spcAft>
              <a:buClr>
                <a:schemeClr val="dk2"/>
              </a:buClr>
              <a:buSzPts val="688"/>
              <a:buFont typeface="Arial"/>
              <a:buNone/>
            </a:pPr>
            <a:r>
              <a:rPr lang="en" sz="1325"/>
              <a:t>This structure ensures the project is maintainable, readable, and easy to extend.</a:t>
            </a:r>
            <a:endParaRPr sz="1325"/>
          </a:p>
          <a:p>
            <a:pPr indent="0" lvl="0" marL="0" rtl="0" algn="l">
              <a:lnSpc>
                <a:spcPct val="95000"/>
              </a:lnSpc>
              <a:spcBef>
                <a:spcPts val="1200"/>
              </a:spcBef>
              <a:spcAft>
                <a:spcPts val="1200"/>
              </a:spcAft>
              <a:buSzPts val="688"/>
              <a:buNone/>
            </a:pPr>
            <a:r>
              <a:t/>
            </a:r>
            <a:endParaRPr sz="1325"/>
          </a:p>
        </p:txBody>
      </p:sp>
      <p:pic>
        <p:nvPicPr>
          <p:cNvPr id="94" name="Google Shape;94;p17"/>
          <p:cNvPicPr preferRelativeResize="0"/>
          <p:nvPr/>
        </p:nvPicPr>
        <p:blipFill>
          <a:blip r:embed="rId3">
            <a:alphaModFix/>
          </a:blip>
          <a:stretch>
            <a:fillRect/>
          </a:stretch>
        </p:blipFill>
        <p:spPr>
          <a:xfrm>
            <a:off x="7092850" y="363300"/>
            <a:ext cx="1443175" cy="44169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8"/>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Feature Demonstration</a:t>
            </a:r>
            <a:endParaRPr/>
          </a:p>
        </p:txBody>
      </p:sp>
      <p:sp>
        <p:nvSpPr>
          <p:cNvPr id="100" name="Google Shape;100;p18"/>
          <p:cNvSpPr txBox="1"/>
          <p:nvPr>
            <p:ph idx="1" type="body"/>
          </p:nvPr>
        </p:nvSpPr>
        <p:spPr>
          <a:xfrm>
            <a:off x="311700" y="1152475"/>
            <a:ext cx="4260300" cy="3416400"/>
          </a:xfrm>
          <a:prstGeom prst="rect">
            <a:avLst/>
          </a:prstGeom>
        </p:spPr>
        <p:txBody>
          <a:bodyPr anchorCtr="0" anchor="ctr" bIns="91425" lIns="91425" spcFirstLastPara="1" rIns="91425" wrap="square" tIns="91425">
            <a:normAutofit/>
          </a:bodyPr>
          <a:lstStyle/>
          <a:p>
            <a:pPr indent="-393700" lvl="0" marL="457200" rtl="0" algn="l">
              <a:spcBef>
                <a:spcPts val="0"/>
              </a:spcBef>
              <a:spcAft>
                <a:spcPts val="0"/>
              </a:spcAft>
              <a:buSzPts val="2600"/>
              <a:buChar char="●"/>
            </a:pPr>
            <a:r>
              <a:rPr lang="en" sz="2600"/>
              <a:t>Move highlights</a:t>
            </a:r>
            <a:endParaRPr sz="2600"/>
          </a:p>
          <a:p>
            <a:pPr indent="-393700" lvl="0" marL="457200" rtl="0" algn="l">
              <a:spcBef>
                <a:spcPts val="0"/>
              </a:spcBef>
              <a:spcAft>
                <a:spcPts val="0"/>
              </a:spcAft>
              <a:buSzPts val="2600"/>
              <a:buChar char="●"/>
            </a:pPr>
            <a:r>
              <a:rPr lang="en" sz="2600"/>
              <a:t>Last move trace</a:t>
            </a:r>
            <a:endParaRPr sz="2600"/>
          </a:p>
          <a:p>
            <a:pPr indent="-393700" lvl="0" marL="457200" rtl="0" algn="l">
              <a:spcBef>
                <a:spcPts val="0"/>
              </a:spcBef>
              <a:spcAft>
                <a:spcPts val="0"/>
              </a:spcAft>
              <a:buSzPts val="2600"/>
              <a:buChar char="●"/>
            </a:pPr>
            <a:r>
              <a:rPr lang="en" sz="2600"/>
              <a:t>Hover highlight</a:t>
            </a:r>
            <a:endParaRPr sz="2600"/>
          </a:p>
          <a:p>
            <a:pPr indent="-393700" lvl="0" marL="457200" rtl="0" algn="l">
              <a:spcBef>
                <a:spcPts val="0"/>
              </a:spcBef>
              <a:spcAft>
                <a:spcPts val="0"/>
              </a:spcAft>
              <a:buSzPts val="2600"/>
              <a:buChar char="●"/>
            </a:pPr>
            <a:r>
              <a:rPr lang="en" sz="2600"/>
              <a:t>Dragged piece</a:t>
            </a:r>
            <a:endParaRPr sz="2600"/>
          </a:p>
          <a:p>
            <a:pPr indent="-393700" lvl="0" marL="457200" rtl="0" algn="l">
              <a:spcBef>
                <a:spcPts val="0"/>
              </a:spcBef>
              <a:spcAft>
                <a:spcPts val="0"/>
              </a:spcAft>
              <a:buSzPts val="2600"/>
              <a:buChar char="●"/>
            </a:pPr>
            <a:r>
              <a:rPr lang="en" sz="2600"/>
              <a:t>Theme colours</a:t>
            </a:r>
            <a:endParaRPr sz="2600"/>
          </a:p>
        </p:txBody>
      </p:sp>
      <p:pic>
        <p:nvPicPr>
          <p:cNvPr id="101" name="Google Shape;101;p18"/>
          <p:cNvPicPr preferRelativeResize="0"/>
          <p:nvPr/>
        </p:nvPicPr>
        <p:blipFill>
          <a:blip r:embed="rId3">
            <a:alphaModFix/>
          </a:blip>
          <a:stretch>
            <a:fillRect/>
          </a:stretch>
        </p:blipFill>
        <p:spPr>
          <a:xfrm>
            <a:off x="4784430" y="445025"/>
            <a:ext cx="4127671" cy="412384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9"/>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Challenges &amp; Solutions</a:t>
            </a:r>
            <a:endParaRPr/>
          </a:p>
        </p:txBody>
      </p:sp>
      <p:sp>
        <p:nvSpPr>
          <p:cNvPr id="107" name="Google Shape;107;p19"/>
          <p:cNvSpPr txBox="1"/>
          <p:nvPr>
            <p:ph idx="1" type="body"/>
          </p:nvPr>
        </p:nvSpPr>
        <p:spPr>
          <a:xfrm>
            <a:off x="311700" y="1152475"/>
            <a:ext cx="4026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lang="en"/>
              <a:t>Challenges:</a:t>
            </a:r>
            <a:endParaRPr/>
          </a:p>
          <a:p>
            <a:pPr indent="0" lvl="0" marL="0" rtl="0" algn="l">
              <a:spcBef>
                <a:spcPts val="1200"/>
              </a:spcBef>
              <a:spcAft>
                <a:spcPts val="0"/>
              </a:spcAft>
              <a:buClr>
                <a:schemeClr val="dk2"/>
              </a:buClr>
              <a:buSzPts val="1100"/>
              <a:buFont typeface="Arial"/>
              <a:buNone/>
            </a:pPr>
            <a:r>
              <a:rPr lang="en"/>
              <a:t>Fixing errors presents within the codes that might break the function of the engine</a:t>
            </a:r>
            <a:endParaRPr/>
          </a:p>
          <a:p>
            <a:pPr indent="0" lvl="0" marL="0" rtl="0" algn="l">
              <a:spcBef>
                <a:spcPts val="1200"/>
              </a:spcBef>
              <a:spcAft>
                <a:spcPts val="1200"/>
              </a:spcAft>
              <a:buClr>
                <a:schemeClr val="dk2"/>
              </a:buClr>
              <a:buSzPts val="1100"/>
              <a:buFont typeface="Arial"/>
              <a:buNone/>
            </a:pPr>
            <a:r>
              <a:t/>
            </a:r>
            <a:endParaRPr/>
          </a:p>
        </p:txBody>
      </p:sp>
      <p:sp>
        <p:nvSpPr>
          <p:cNvPr id="108" name="Google Shape;108;p19"/>
          <p:cNvSpPr txBox="1"/>
          <p:nvPr/>
        </p:nvSpPr>
        <p:spPr>
          <a:xfrm>
            <a:off x="4805400" y="1152175"/>
            <a:ext cx="4026900" cy="34170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Clr>
                <a:schemeClr val="dk2"/>
              </a:buClr>
              <a:buSzPts val="1100"/>
              <a:buFont typeface="Arial"/>
              <a:buNone/>
            </a:pPr>
            <a:r>
              <a:rPr lang="en" sz="1800">
                <a:solidFill>
                  <a:schemeClr val="lt2"/>
                </a:solidFill>
                <a:latin typeface="Source Sans Pro"/>
                <a:ea typeface="Source Sans Pro"/>
                <a:cs typeface="Source Sans Pro"/>
                <a:sym typeface="Source Sans Pro"/>
              </a:rPr>
              <a:t>Solutions:</a:t>
            </a:r>
            <a:endParaRPr sz="1800">
              <a:solidFill>
                <a:schemeClr val="lt2"/>
              </a:solidFill>
              <a:latin typeface="Source Sans Pro"/>
              <a:ea typeface="Source Sans Pro"/>
              <a:cs typeface="Source Sans Pro"/>
              <a:sym typeface="Source Sans Pro"/>
            </a:endParaRPr>
          </a:p>
          <a:p>
            <a:pPr indent="0" lvl="0" marL="0" rtl="0" algn="r">
              <a:lnSpc>
                <a:spcPct val="115000"/>
              </a:lnSpc>
              <a:spcBef>
                <a:spcPts val="1200"/>
              </a:spcBef>
              <a:spcAft>
                <a:spcPts val="0"/>
              </a:spcAft>
              <a:buClr>
                <a:schemeClr val="dk2"/>
              </a:buClr>
              <a:buSzPts val="1100"/>
              <a:buFont typeface="Arial"/>
              <a:buNone/>
            </a:pPr>
            <a:r>
              <a:rPr lang="en" sz="1800">
                <a:solidFill>
                  <a:schemeClr val="lt2"/>
                </a:solidFill>
                <a:latin typeface="Source Sans Pro"/>
                <a:ea typeface="Source Sans Pro"/>
                <a:cs typeface="Source Sans Pro"/>
                <a:sym typeface="Source Sans Pro"/>
              </a:rPr>
              <a:t>Asking AI to spot the error, listing out the solution</a:t>
            </a:r>
            <a:endParaRPr sz="1800">
              <a:solidFill>
                <a:schemeClr val="lt2"/>
              </a:solidFill>
              <a:latin typeface="Source Sans Pro"/>
              <a:ea typeface="Source Sans Pro"/>
              <a:cs typeface="Source Sans Pro"/>
              <a:sym typeface="Source Sans Pro"/>
            </a:endParaRPr>
          </a:p>
          <a:p>
            <a:pPr indent="0" lvl="0" marL="0" rtl="0" algn="r">
              <a:spcBef>
                <a:spcPts val="1200"/>
              </a:spcBef>
              <a:spcAft>
                <a:spcPts val="0"/>
              </a:spcAft>
              <a:buNone/>
            </a:pPr>
            <a:r>
              <a:t/>
            </a:r>
            <a:endParaRPr sz="1800">
              <a:solidFill>
                <a:schemeClr val="lt2"/>
              </a:solidFill>
              <a:latin typeface="Source Sans Pro"/>
              <a:ea typeface="Source Sans Pro"/>
              <a:cs typeface="Source Sans Pro"/>
              <a:sym typeface="Source Sans Pro"/>
            </a:endParaRPr>
          </a:p>
        </p:txBody>
      </p:sp>
      <p:pic>
        <p:nvPicPr>
          <p:cNvPr id="109" name="Google Shape;109;p19"/>
          <p:cNvPicPr preferRelativeResize="0"/>
          <p:nvPr/>
        </p:nvPicPr>
        <p:blipFill>
          <a:blip r:embed="rId3">
            <a:alphaModFix/>
          </a:blip>
          <a:stretch>
            <a:fillRect/>
          </a:stretch>
        </p:blipFill>
        <p:spPr>
          <a:xfrm>
            <a:off x="1039275" y="3335225"/>
            <a:ext cx="2571750" cy="1409700"/>
          </a:xfrm>
          <a:prstGeom prst="rect">
            <a:avLst/>
          </a:prstGeom>
          <a:noFill/>
          <a:ln>
            <a:noFill/>
          </a:ln>
        </p:spPr>
      </p:pic>
      <p:pic>
        <p:nvPicPr>
          <p:cNvPr id="110" name="Google Shape;110;p19"/>
          <p:cNvPicPr preferRelativeResize="0"/>
          <p:nvPr/>
        </p:nvPicPr>
        <p:blipFill>
          <a:blip r:embed="rId4">
            <a:alphaModFix/>
          </a:blip>
          <a:stretch>
            <a:fillRect/>
          </a:stretch>
        </p:blipFill>
        <p:spPr>
          <a:xfrm flipH="1" rot="10800000">
            <a:off x="5805800" y="3335228"/>
            <a:ext cx="2512944" cy="14097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0"/>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Future Improvements</a:t>
            </a:r>
            <a:endParaRPr/>
          </a:p>
        </p:txBody>
      </p:sp>
      <p:sp>
        <p:nvSpPr>
          <p:cNvPr id="116" name="Google Shape;116;p20"/>
          <p:cNvSpPr txBox="1"/>
          <p:nvPr>
            <p:ph idx="1" type="body"/>
          </p:nvPr>
        </p:nvSpPr>
        <p:spPr>
          <a:xfrm>
            <a:off x="311700" y="1152475"/>
            <a:ext cx="3737100" cy="3416400"/>
          </a:xfrm>
          <a:prstGeom prst="rect">
            <a:avLst/>
          </a:prstGeom>
        </p:spPr>
        <p:txBody>
          <a:bodyPr anchorCtr="0" anchor="ctr" bIns="91425" lIns="91425" spcFirstLastPara="1" rIns="91425" wrap="square" tIns="91425">
            <a:normAutofit/>
          </a:bodyPr>
          <a:lstStyle/>
          <a:p>
            <a:pPr indent="-342900" lvl="0" marL="457200" rtl="0" algn="l">
              <a:spcBef>
                <a:spcPts val="0"/>
              </a:spcBef>
              <a:spcAft>
                <a:spcPts val="0"/>
              </a:spcAft>
              <a:buSzPts val="1800"/>
              <a:buChar char="●"/>
            </a:pPr>
            <a:r>
              <a:rPr lang="en"/>
              <a:t>AI opponent</a:t>
            </a:r>
            <a:endParaRPr/>
          </a:p>
          <a:p>
            <a:pPr indent="-342900" lvl="0" marL="457200" rtl="0" algn="l">
              <a:spcBef>
                <a:spcPts val="0"/>
              </a:spcBef>
              <a:spcAft>
                <a:spcPts val="0"/>
              </a:spcAft>
              <a:buSzPts val="1800"/>
              <a:buChar char="●"/>
            </a:pPr>
            <a:r>
              <a:rPr lang="en"/>
              <a:t>Timer</a:t>
            </a:r>
            <a:endParaRPr/>
          </a:p>
          <a:p>
            <a:pPr indent="-342900" lvl="0" marL="457200" rtl="0" algn="l">
              <a:spcBef>
                <a:spcPts val="0"/>
              </a:spcBef>
              <a:spcAft>
                <a:spcPts val="0"/>
              </a:spcAft>
              <a:buSzPts val="1800"/>
              <a:buChar char="●"/>
            </a:pPr>
            <a:r>
              <a:rPr lang="en"/>
              <a:t>Online</a:t>
            </a:r>
            <a:endParaRPr/>
          </a:p>
          <a:p>
            <a:pPr indent="-342900" lvl="0" marL="457200" rtl="0" algn="l">
              <a:spcBef>
                <a:spcPts val="0"/>
              </a:spcBef>
              <a:spcAft>
                <a:spcPts val="0"/>
              </a:spcAft>
              <a:buSzPts val="1800"/>
              <a:buChar char="●"/>
            </a:pPr>
            <a:r>
              <a:rPr lang="en"/>
              <a:t>Animation</a:t>
            </a:r>
            <a:endParaRPr/>
          </a:p>
          <a:p>
            <a:pPr indent="-342900" lvl="0" marL="457200" rtl="0" algn="l">
              <a:spcBef>
                <a:spcPts val="0"/>
              </a:spcBef>
              <a:spcAft>
                <a:spcPts val="0"/>
              </a:spcAft>
              <a:buSzPts val="1800"/>
              <a:buChar char="●"/>
            </a:pPr>
            <a:r>
              <a:rPr lang="en"/>
              <a:t>Analysis</a:t>
            </a:r>
            <a:endParaRPr/>
          </a:p>
        </p:txBody>
      </p:sp>
      <p:pic>
        <p:nvPicPr>
          <p:cNvPr id="117" name="Google Shape;117;p20"/>
          <p:cNvPicPr preferRelativeResize="0"/>
          <p:nvPr/>
        </p:nvPicPr>
        <p:blipFill>
          <a:blip r:embed="rId3">
            <a:alphaModFix/>
          </a:blip>
          <a:stretch>
            <a:fillRect/>
          </a:stretch>
        </p:blipFill>
        <p:spPr>
          <a:xfrm>
            <a:off x="4191692" y="1152475"/>
            <a:ext cx="4769933" cy="337297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Plum">
  <a:themeElements>
    <a:clrScheme name="Plum">
      <a:dk1>
        <a:srgbClr val="611BB8"/>
      </a:dk1>
      <a:lt1>
        <a:srgbClr val="FFFFFF"/>
      </a:lt1>
      <a:dk2>
        <a:srgbClr val="000000"/>
      </a:dk2>
      <a:lt2>
        <a:srgbClr val="7F7F7F"/>
      </a:lt2>
      <a:accent1>
        <a:srgbClr val="333333"/>
      </a:accent1>
      <a:accent2>
        <a:srgbClr val="5E2B97"/>
      </a:accent2>
      <a:accent3>
        <a:srgbClr val="7E57C2"/>
      </a:accent3>
      <a:accent4>
        <a:srgbClr val="C77025"/>
      </a:accent4>
      <a:accent5>
        <a:srgbClr val="009688"/>
      </a:accent5>
      <a:accent6>
        <a:srgbClr val="FFD600"/>
      </a:accent6>
      <a:hlink>
        <a:srgbClr val="009688"/>
      </a:hlink>
      <a:folHlink>
        <a:srgbClr val="00968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